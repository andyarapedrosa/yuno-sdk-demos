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4773168"/>
            <a:ext cx="109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Titillium Web SemiBold"/>
              </a:rPr>
              <a:t>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477316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Titillium Web SemiBold"/>
              </a:rPr>
              <a:t>W W . Y . U N 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22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B4FF"/>
                </a:solidFill>
                <a:latin typeface="Titillium Web"/>
              </a:rPr>
              <a:t>SOLUTIONS ENGINEER @ YUNO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9728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Titillium Web"/>
              </a:rPr>
              <a:t>Redesenhando a Esteira
de Pré-Venda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063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CCFF"/>
                </a:solidFill>
                <a:latin typeface="Titillium Web"/>
              </a:rPr>
              <a:t>As-Is → To-Be  |  Sales Eng + Implementação → Solutions Engineer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663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B4FF"/>
                </a:solidFill>
                <a:latin typeface="Titillium Web"/>
              </a:rPr>
              <a:t>Abril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282A30"/>
                </a:solidFill>
                <a:latin typeface="Titillium Web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13232"/>
            <a:ext cx="8503920" cy="13716"/>
          </a:xfrm>
          <a:prstGeom prst="rect">
            <a:avLst/>
          </a:prstGeom>
          <a:solidFill>
            <a:srgbClr val="A0A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841248"/>
            <a:ext cx="457200" cy="4572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0525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itillium Web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85953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A30"/>
                </a:solidFill>
                <a:latin typeface="Titillium Web"/>
              </a:rPr>
              <a:t>A esteira atual — As-Is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115568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EBE"/>
                </a:solidFill>
                <a:latin typeface="Titillium Web"/>
              </a:rPr>
              <a:t>Mapeamento das 5 etapas e quem está envolvido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45920"/>
            <a:ext cx="457200" cy="4572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709928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itillium Web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A30"/>
                </a:solidFill>
                <a:latin typeface="Titillium Web"/>
              </a:rPr>
              <a:t>Os gaps identificados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EBE"/>
                </a:solidFill>
                <a:latin typeface="Titillium Web"/>
              </a:rPr>
              <a:t>O que está indefinido e gerando inconsistência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450592"/>
            <a:ext cx="457200" cy="4572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51460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itillium Web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6888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A30"/>
                </a:solidFill>
                <a:latin typeface="Titillium Web"/>
              </a:rPr>
              <a:t>A nova visão — To-Be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72491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EBE"/>
                </a:solidFill>
                <a:latin typeface="Titillium Web"/>
              </a:rPr>
              <a:t>Critérios, handoff estruturado, demo padrão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55264"/>
            <a:ext cx="457200" cy="4572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331927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itillium Web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2735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A30"/>
                </a:solidFill>
                <a:latin typeface="Titillium Web"/>
              </a:rPr>
              <a:t>O papel do Solutions Engineer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529584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EBE"/>
                </a:solidFill>
                <a:latin typeface="Titillium Web"/>
              </a:rPr>
              <a:t>Pré-venda + Implementação unificados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059936"/>
            <a:ext cx="457200" cy="4572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412394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itillium Web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07822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82A30"/>
                </a:solidFill>
                <a:latin typeface="Titillium Web"/>
              </a:rPr>
              <a:t>Próximos passos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334256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EBE"/>
                </a:solidFill>
                <a:latin typeface="Titillium Web"/>
              </a:rPr>
              <a:t>Como começamos a implementar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8463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4773168"/>
            <a:ext cx="109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Titillium Web SemiBold"/>
              </a:rPr>
              <a:t>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477316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Titillium Web SemiBold"/>
              </a:rPr>
              <a:t>W W . Y . U N 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09728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0" b="1" i="0">
                <a:solidFill>
                  <a:srgbClr val="5262EA"/>
                </a:solidFill>
                <a:latin typeface="Titillium Web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7373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Titillium Web"/>
              </a:rPr>
              <a:t>A Esteira Atual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6517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CFF"/>
                </a:solidFill>
                <a:latin typeface="Titillium Web"/>
              </a:rPr>
              <a:t>As-Is — Como funciona hoje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82A30"/>
                </a:solidFill>
                <a:latin typeface="Titillium Web"/>
              </a:rPr>
              <a:t>A Esteira de Pré-Venda Hoje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1572768" cy="1078992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1078992"/>
            <a:ext cx="14264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82A30"/>
                </a:solidFill>
                <a:latin typeface="Titillium Web"/>
              </a:rPr>
              <a:t>Meeting
Booked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37360"/>
            <a:ext cx="1572768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755648"/>
            <a:ext cx="1481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EBE"/>
                </a:solidFill>
                <a:latin typeface="Titillium Web"/>
              </a:rPr>
              <a:t>BDM + Merchant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11095" y="1353312"/>
            <a:ext cx="219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AEBE"/>
                </a:solidFill>
                <a:latin typeface="Titillium Web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7400" y="1005840"/>
            <a:ext cx="1572768" cy="1078992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30552" y="1078992"/>
            <a:ext cx="14264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82A30"/>
                </a:solidFill>
                <a:latin typeface="Titillium Web"/>
              </a:rPr>
              <a:t>Discovery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7400" y="1737360"/>
            <a:ext cx="1572768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1755648"/>
            <a:ext cx="1481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EBE"/>
                </a:solidFill>
                <a:latin typeface="Titillium Web"/>
              </a:rPr>
              <a:t>BDM + Merchant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1353312"/>
            <a:ext cx="219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AEBE"/>
                </a:solidFill>
                <a:latin typeface="Titillium Web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94759" y="1005840"/>
            <a:ext cx="1572768" cy="107899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7911" y="1078992"/>
            <a:ext cx="14264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Titillium Web"/>
              </a:rPr>
              <a:t>Demo / Product
Deep Dive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94759" y="1737360"/>
            <a:ext cx="1572768" cy="347472"/>
          </a:xfrm>
          <a:prstGeom prst="rect">
            <a:avLst/>
          </a:prstGeom>
          <a:solidFill>
            <a:srgbClr val="283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79" y="1755648"/>
            <a:ext cx="1481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Titillium Web"/>
              </a:rPr>
              <a:t>SE + BDM + Merchant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5815" y="1353312"/>
            <a:ext cx="219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AEBE"/>
                </a:solidFill>
                <a:latin typeface="Titillium Web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32119" y="1005840"/>
            <a:ext cx="1572768" cy="1078992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05271" y="1078992"/>
            <a:ext cx="14264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82A30"/>
                </a:solidFill>
                <a:latin typeface="Titillium Web"/>
              </a:rPr>
              <a:t>Negotiation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32119" y="1737360"/>
            <a:ext cx="1572768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39" y="1755648"/>
            <a:ext cx="1481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EBE"/>
                </a:solidFill>
                <a:latin typeface="Titillium Web"/>
              </a:rPr>
              <a:t>BDM + Merchant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3175" y="1353312"/>
            <a:ext cx="219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AEBE"/>
                </a:solidFill>
                <a:latin typeface="Titillium Web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79" y="1005840"/>
            <a:ext cx="1572768" cy="1078992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1078992"/>
            <a:ext cx="14264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82A30"/>
                </a:solidFill>
                <a:latin typeface="Titillium Web"/>
              </a:rPr>
              <a:t>Contracting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79" y="1737360"/>
            <a:ext cx="1572768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199" y="1755648"/>
            <a:ext cx="1481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EBE"/>
                </a:solidFill>
                <a:latin typeface="Titillium Web"/>
              </a:rPr>
              <a:t>Legal + BDM
+ Merchant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94759" y="2249424"/>
            <a:ext cx="1572768" cy="274320"/>
          </a:xfrm>
          <a:prstGeom prst="rect">
            <a:avLst/>
          </a:prstGeom>
          <a:solidFill>
            <a:srgbClr val="FFF3CD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9623" y="2267712"/>
            <a:ext cx="14813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24000"/>
                </a:solidFill>
                <a:latin typeface="Titillium Web"/>
              </a:rPr>
              <a:t>⚠  SE acionado sem critério definido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267004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A30"/>
                </a:solidFill>
                <a:latin typeface="Titillium Web"/>
              </a:rPr>
              <a:t>Gaps identificados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2944368"/>
            <a:ext cx="8503920" cy="13716"/>
          </a:xfrm>
          <a:prstGeom prst="rect">
            <a:avLst/>
          </a:prstGeom>
          <a:solidFill>
            <a:srgbClr val="A0A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3017520"/>
            <a:ext cx="2788920" cy="1828800"/>
          </a:xfrm>
          <a:prstGeom prst="rect">
            <a:avLst/>
          </a:prstGeom>
          <a:solidFill>
            <a:srgbClr val="FFF1F2"/>
          </a:solidFill>
          <a:ln w="12700">
            <a:solidFill>
              <a:srgbClr val="FBC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79" y="307238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91C1C"/>
                </a:solidFill>
                <a:latin typeface="Titillium Web"/>
              </a:rPr>
              <a:t>✕  Sem critério de acionamento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79" y="3346704"/>
            <a:ext cx="2606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C5C"/>
                </a:solidFill>
                <a:latin typeface="Titillium Web"/>
              </a:rPr>
              <a:t>Qualquer BDM pode ou não acionar o SE — sem regra sobre quando ou para qual perfil de cliente.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64408" y="3017520"/>
            <a:ext cx="2788920" cy="1828800"/>
          </a:xfrm>
          <a:prstGeom prst="rect">
            <a:avLst/>
          </a:prstGeom>
          <a:solidFill>
            <a:srgbClr val="FFF1F2"/>
          </a:solidFill>
          <a:ln w="12700">
            <a:solidFill>
              <a:srgbClr val="FBC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55848" y="307238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91C1C"/>
                </a:solidFill>
                <a:latin typeface="Titillium Web"/>
              </a:rPr>
              <a:t>✕  Sem definição de 'demo'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55848" y="3346704"/>
            <a:ext cx="2606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C5C"/>
                </a:solidFill>
                <a:latin typeface="Titillium Web"/>
              </a:rPr>
              <a:t>Demos variam de walkthrough genérico a demos customizadas — sem padrão de qualidade.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08776" y="3017520"/>
            <a:ext cx="2788920" cy="1828800"/>
          </a:xfrm>
          <a:prstGeom prst="rect">
            <a:avLst/>
          </a:prstGeom>
          <a:solidFill>
            <a:srgbClr val="FFF1F2"/>
          </a:solidFill>
          <a:ln w="12700">
            <a:solidFill>
              <a:srgbClr val="FBC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0216" y="307238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91C1C"/>
                </a:solidFill>
                <a:latin typeface="Titillium Web"/>
              </a:rPr>
              <a:t>✕  Discovery incompleto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0216" y="3346704"/>
            <a:ext cx="2606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C5C"/>
                </a:solidFill>
                <a:latin typeface="Titillium Web"/>
              </a:rPr>
              <a:t>O SE entra no processo sem contexto sobre as dores reais do merchant.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48920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AS-IS —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82A30"/>
                </a:solidFill>
                <a:latin typeface="Titillium Web"/>
              </a:rPr>
              <a:t>O que está indefinido hoje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2807208" cy="3840480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2807208" cy="347472"/>
          </a:xfrm>
          <a:prstGeom prst="rect">
            <a:avLst/>
          </a:prstGeom>
          <a:solidFill>
            <a:srgbClr val="28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033271"/>
            <a:ext cx="26060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Quando acionar o 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463040"/>
            <a:ext cx="2606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Não existe critério de valor de contrato mínimo ($ threshold)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212848"/>
            <a:ext cx="2606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Não existe critério de tamanho ou tier do merchant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962656"/>
            <a:ext cx="2606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Não existe critério de relevância estratégica ou vertical prioritário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712464"/>
            <a:ext cx="2606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Resultado: SE acionado ad hoc — frequentemente tarde demais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4408" y="1005840"/>
            <a:ext cx="2807208" cy="3840480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64408" y="1005840"/>
            <a:ext cx="2807208" cy="347472"/>
          </a:xfrm>
          <a:prstGeom prst="rect">
            <a:avLst/>
          </a:prstGeom>
          <a:solidFill>
            <a:srgbClr val="28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1033271"/>
            <a:ext cx="26060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O que é uma boa demo?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5848" y="1463040"/>
            <a:ext cx="2606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Não há definição interna do que constitui uma 'demo'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2212848"/>
            <a:ext cx="2606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Varia de walkthrough genérico a demos customizadas (ex.: Cinépolis)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5848" y="2962656"/>
            <a:ext cx="2606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Sem padrão: a qualidade vira diferencial individual, não do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5848" y="3712464"/>
            <a:ext cx="2606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Resultado: percepção inconsistente da Yuno pelo merchant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08776" y="1005840"/>
            <a:ext cx="2807208" cy="3840480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8776" y="1005840"/>
            <a:ext cx="2807208" cy="347472"/>
          </a:xfrm>
          <a:prstGeom prst="rect">
            <a:avLst/>
          </a:prstGeom>
          <a:solidFill>
            <a:srgbClr val="28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216" y="1033271"/>
            <a:ext cx="26060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Como o SE recebe contexto?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463040"/>
            <a:ext cx="2606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Não existe documento de Discovery padronizado do BDM para o 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212848"/>
            <a:ext cx="2606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SE entra sem saber: vertical, volume, stack técnico, pain points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962656"/>
            <a:ext cx="2606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Resultado: demos genéricas que não conectam com as dores reais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8920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4773168"/>
            <a:ext cx="109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Titillium Web SemiBold"/>
              </a:rPr>
              <a:t>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477316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Titillium Web SemiBold"/>
              </a:rPr>
              <a:t>W W . Y . U N 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09728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0" b="1" i="0">
                <a:solidFill>
                  <a:srgbClr val="5262EA"/>
                </a:solidFill>
                <a:latin typeface="Titillium Web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7373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Titillium Web"/>
              </a:rPr>
              <a:t>A Nova Visão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6517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CFF"/>
                </a:solidFill>
                <a:latin typeface="Titillium Web"/>
              </a:rPr>
              <a:t>To-Be — Como queremos operar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TO-BE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82A30"/>
                </a:solidFill>
                <a:latin typeface="Titillium Web"/>
              </a:rPr>
              <a:t>A Nova Esteira de Pré-Venda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05840"/>
            <a:ext cx="1298448" cy="1078992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5176" y="1069848"/>
            <a:ext cx="11704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A30"/>
                </a:solidFill>
                <a:latin typeface="Titillium Web"/>
              </a:rPr>
              <a:t>Meeting
Booked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" y="1737360"/>
            <a:ext cx="1298448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" y="1755648"/>
            <a:ext cx="12252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EBE"/>
                </a:solidFill>
                <a:latin typeface="Titillium Web"/>
              </a:rPr>
              <a:t>BDM + Merchant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353312"/>
            <a:ext cx="1737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AEBE"/>
                </a:solidFill>
                <a:latin typeface="Titillium Web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27632" y="1005840"/>
            <a:ext cx="1298448" cy="107899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1069848"/>
            <a:ext cx="11704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tillium Web"/>
              </a:rPr>
              <a:t>Discovery
(Completo)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27632" y="1737360"/>
            <a:ext cx="1298448" cy="347472"/>
          </a:xfrm>
          <a:prstGeom prst="rect">
            <a:avLst/>
          </a:prstGeom>
          <a:solidFill>
            <a:srgbClr val="283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64208" y="1755648"/>
            <a:ext cx="12252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  <a:latin typeface="Titillium Web"/>
              </a:rPr>
              <a:t>BDM → ticket
c/ doc 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5224" y="1353312"/>
            <a:ext cx="1737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AEBE"/>
                </a:solidFill>
                <a:latin typeface="Titillium Web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54096" y="1005840"/>
            <a:ext cx="1298448" cy="107899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8104" y="1069848"/>
            <a:ext cx="11704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tillium Web"/>
              </a:rPr>
              <a:t>Demo
(Padrão 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54096" y="1737360"/>
            <a:ext cx="1298448" cy="347472"/>
          </a:xfrm>
          <a:prstGeom prst="rect">
            <a:avLst/>
          </a:prstGeom>
          <a:solidFill>
            <a:srgbClr val="283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90672" y="1755648"/>
            <a:ext cx="12252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  <a:latin typeface="Titillium Web"/>
              </a:rPr>
              <a:t>SE + BDM
+ Merchant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1353312"/>
            <a:ext cx="1737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AEBE"/>
                </a:solidFill>
                <a:latin typeface="Titillium Web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59" y="1005840"/>
            <a:ext cx="1298448" cy="1078992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1069848"/>
            <a:ext cx="11704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A30"/>
                </a:solidFill>
                <a:latin typeface="Titillium Web"/>
              </a:rPr>
              <a:t>Negotiation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1737360"/>
            <a:ext cx="1298448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7136" y="1755648"/>
            <a:ext cx="12252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EBE"/>
                </a:solidFill>
                <a:latin typeface="Titillium Web"/>
              </a:rPr>
              <a:t>BDM + Merchant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88151" y="1353312"/>
            <a:ext cx="1737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AEBE"/>
                </a:solidFill>
                <a:latin typeface="Titillium Web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07024" y="1005840"/>
            <a:ext cx="1298448" cy="107899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71032" y="1069848"/>
            <a:ext cx="11704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tillium Web"/>
              </a:rPr>
              <a:t>Technical
Scoping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07024" y="1737360"/>
            <a:ext cx="1298448" cy="347472"/>
          </a:xfrm>
          <a:prstGeom prst="rect">
            <a:avLst/>
          </a:prstGeom>
          <a:solidFill>
            <a:srgbClr val="283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0" y="1755648"/>
            <a:ext cx="12252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  <a:latin typeface="Titillium Web"/>
              </a:rPr>
              <a:t>SE + Time Técnico
do Merchant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4616" y="1353312"/>
            <a:ext cx="1737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AEBE"/>
                </a:solidFill>
                <a:latin typeface="Titillium Web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33488" y="1005840"/>
            <a:ext cx="1298448" cy="1078992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97496" y="1069848"/>
            <a:ext cx="11704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82A30"/>
                </a:solidFill>
                <a:latin typeface="Titillium Web"/>
              </a:rPr>
              <a:t>Contracting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33488" y="1737360"/>
            <a:ext cx="1298448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70064" y="1755648"/>
            <a:ext cx="12252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EBE"/>
                </a:solidFill>
                <a:latin typeface="Titillium Web"/>
              </a:rPr>
              <a:t>Legal + BDM
+ Merchant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79576" y="2249424"/>
            <a:ext cx="1828800" cy="256032"/>
          </a:xfrm>
          <a:prstGeom prst="rect">
            <a:avLst/>
          </a:prstGeom>
          <a:solidFill>
            <a:srgbClr val="E8EAFE"/>
          </a:solidFill>
          <a:ln w="10160"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34440" y="2267712"/>
            <a:ext cx="1719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E4FE0"/>
                </a:solidFill>
                <a:latin typeface="Titillium Web"/>
              </a:rPr>
              <a:t>✓  Critério de acionamento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86984" y="2249424"/>
            <a:ext cx="1828800" cy="256032"/>
          </a:xfrm>
          <a:prstGeom prst="rect">
            <a:avLst/>
          </a:prstGeom>
          <a:solidFill>
            <a:srgbClr val="E8EAFE"/>
          </a:solidFill>
          <a:ln w="10160">
            <a:solidFill>
              <a:srgbClr val="3E4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41848" y="2267712"/>
            <a:ext cx="17190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E4FE0"/>
                </a:solidFill>
                <a:latin typeface="Titillium Web"/>
              </a:rPr>
              <a:t>✓  Escopo técnico fechado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" y="26517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A30"/>
                </a:solidFill>
                <a:latin typeface="Titillium Web"/>
              </a:rPr>
              <a:t>Melhorias incorporadas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2926080"/>
            <a:ext cx="8503920" cy="13716"/>
          </a:xfrm>
          <a:prstGeom prst="rect">
            <a:avLst/>
          </a:prstGeom>
          <a:solidFill>
            <a:srgbClr val="A0A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1168" y="2999232"/>
            <a:ext cx="2103120" cy="1920240"/>
          </a:xfrm>
          <a:prstGeom prst="rect">
            <a:avLst/>
          </a:prstGeom>
          <a:solidFill>
            <a:srgbClr val="E8EAFE"/>
          </a:solidFill>
          <a:ln w="12700">
            <a:solidFill>
              <a:srgbClr val="C0C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2608" y="30540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✓  Critério de acionamento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2608" y="3328416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C5C"/>
                </a:solidFill>
                <a:latin typeface="Titillium Web"/>
              </a:rPr>
              <a:t>SE acionado apenas quando o deal atende critérios de valor, porte e estratégia.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14016" y="2999232"/>
            <a:ext cx="2103120" cy="1920240"/>
          </a:xfrm>
          <a:prstGeom prst="rect">
            <a:avLst/>
          </a:prstGeom>
          <a:solidFill>
            <a:srgbClr val="E8EAFE"/>
          </a:solidFill>
          <a:ln w="12700">
            <a:solidFill>
              <a:srgbClr val="C0C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505456" y="30540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✓  Discovery estruturado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05456" y="3328416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C5C"/>
                </a:solidFill>
                <a:latin typeface="Titillium Web"/>
              </a:rPr>
              <a:t>BDM abre ticket com doc de Discovery completo antes de qualquer contato do SE.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26864" y="2999232"/>
            <a:ext cx="2103120" cy="1920240"/>
          </a:xfrm>
          <a:prstGeom prst="rect">
            <a:avLst/>
          </a:prstGeom>
          <a:solidFill>
            <a:srgbClr val="E8EAFE"/>
          </a:solidFill>
          <a:ln w="12700">
            <a:solidFill>
              <a:srgbClr val="C0C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18303" y="30540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✓  Technical Scoping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18303" y="3328416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C5C"/>
                </a:solidFill>
                <a:latin typeface="Titillium Web"/>
              </a:rPr>
              <a:t>SE + time técnico alinham escopo antes de assinar — evita surpresas na implementação.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9712" y="2999232"/>
            <a:ext cx="2103120" cy="1920240"/>
          </a:xfrm>
          <a:prstGeom prst="rect">
            <a:avLst/>
          </a:prstGeom>
          <a:solidFill>
            <a:srgbClr val="E8EAFE"/>
          </a:solidFill>
          <a:ln w="12700">
            <a:solidFill>
              <a:srgbClr val="C0C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31151" y="305409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✓  Demo padrão Cinépolis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1" y="3328416"/>
            <a:ext cx="1920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C5C"/>
                </a:solidFill>
                <a:latin typeface="Titillium Web"/>
              </a:rPr>
              <a:t>Todas as demos são personalizadas, técnicas e direcionadas às dores do merchant.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" y="48920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TO-BE — CRITÉRIOS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82A30"/>
                </a:solidFill>
                <a:latin typeface="Titillium Web"/>
              </a:rPr>
              <a:t>Quando acionar o Solutions Engineer?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96112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EBE"/>
                </a:solidFill>
                <a:latin typeface="Titillium Web"/>
              </a:rPr>
              <a:t>O SE deve ser acionado quando o deal atender pelo menos um dos critérios abaixo: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4206240" cy="1627632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530352" cy="162763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5" y="17647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82A30"/>
                </a:solidFill>
                <a:latin typeface="Titillium Web"/>
              </a:rPr>
              <a:t>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335024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A30"/>
                </a:solidFill>
                <a:latin typeface="Titillium Web"/>
              </a:rPr>
              <a:t>Valor de Contrato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627631"/>
            <a:ext cx="3429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TAR acima do threshold definido
(ex.: &gt; $50k USD anuais)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19" y="2176272"/>
            <a:ext cx="3429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19" y="2240280"/>
            <a:ext cx="3429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"/>
              </a:rPr>
              <a:t>ℹ  Deals menores seguem fluxo simplificado sem 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79" y="1261872"/>
            <a:ext cx="4206240" cy="1627632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79" y="1261872"/>
            <a:ext cx="530352" cy="162763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91455" y="17647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82A30"/>
                </a:solidFill>
                <a:latin typeface="Titillium Web"/>
              </a:rPr>
              <a:t>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59" y="1335024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A30"/>
                </a:solidFill>
                <a:latin typeface="Titillium Web"/>
              </a:rPr>
              <a:t>Tamanho do Merchant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9" y="1627631"/>
            <a:ext cx="3429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Enterprise ou Mid-Market
(volume de transações e equipe técnica)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59" y="2176272"/>
            <a:ext cx="3429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59" y="2240280"/>
            <a:ext cx="3429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"/>
              </a:rPr>
              <a:t>ℹ  Contas menores com integração simples não acionam 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072384"/>
            <a:ext cx="4206240" cy="1627632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072384"/>
            <a:ext cx="530352" cy="162763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5" y="35753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82A30"/>
                </a:solidFill>
                <a:latin typeface="Titillium Web"/>
              </a:rPr>
              <a:t>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19" y="3145536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A30"/>
                </a:solidFill>
                <a:latin typeface="Titillium Web"/>
              </a:rPr>
              <a:t>Conta Estratégica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19" y="3438144"/>
            <a:ext cx="3429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Merchant em vertical prioritária
(fintech, e-commerce enterprise, governo)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19" y="3986783"/>
            <a:ext cx="3429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19" y="4050791"/>
            <a:ext cx="3429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"/>
              </a:rPr>
              <a:t>ℹ  Qualquer deal marcado como 'strategic account' pelo head comercial.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79" y="3072384"/>
            <a:ext cx="4206240" cy="1627632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54879" y="3072384"/>
            <a:ext cx="530352" cy="162763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5" y="35753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82A30"/>
                </a:solidFill>
                <a:latin typeface="Titillium Web"/>
              </a:rPr>
              <a:t>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59" y="3145536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82A30"/>
                </a:solidFill>
                <a:latin typeface="Titillium Web"/>
              </a:rPr>
              <a:t>Complexidade Técnica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59" y="3438144"/>
            <a:ext cx="3429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Stack customizado, múltiplos métodos,
3DS, orquestração complexa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986783"/>
            <a:ext cx="3429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94959" y="4050791"/>
            <a:ext cx="3429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"/>
              </a:rPr>
              <a:t>ℹ  BDM identifica necessidade técnica que não consegue responder sozinho.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48920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TO-BE — HANDOFF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82A30"/>
                </a:solidFill>
                <a:latin typeface="Titillium Web"/>
              </a:rPr>
              <a:t>O Ticket de Discovery: BDM → 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EBE"/>
                </a:solidFill>
                <a:latin typeface="Titillium Web"/>
              </a:rPr>
              <a:t>Antes de qualquer interação do SE com o merchant, o BDM abre um ticket com o documento abaixo preenchido: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2926080" cy="3749039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2926080" cy="347472"/>
          </a:xfrm>
          <a:prstGeom prst="rect">
            <a:avLst/>
          </a:prstGeom>
          <a:solidFill>
            <a:srgbClr val="28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16152"/>
            <a:ext cx="2743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Fluxo de Solicitação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1664208"/>
            <a:ext cx="292608" cy="29260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700784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Titillium Web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1673352"/>
            <a:ext cx="2304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82A30"/>
                </a:solidFill>
                <a:latin typeface="Titillium Web"/>
              </a:rPr>
              <a:t>BDM qualifica o deal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1874520"/>
            <a:ext cx="2304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"/>
              </a:rPr>
              <a:t>Avalia se atende os critérios de acionamento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2304288"/>
            <a:ext cx="292608" cy="29260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2340864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Titillium Web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313432"/>
            <a:ext cx="2304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82A30"/>
                </a:solidFill>
                <a:latin typeface="Titillium Web"/>
              </a:rPr>
              <a:t>BDM preenche Discovery doc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514600"/>
            <a:ext cx="2304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"/>
              </a:rPr>
              <a:t>Completa template padronizado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2944368"/>
            <a:ext cx="292608" cy="29260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2980944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Titillium Web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2953511"/>
            <a:ext cx="2304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82A30"/>
                </a:solidFill>
                <a:latin typeface="Titillium Web"/>
              </a:rPr>
              <a:t>BDM abre ticket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154679"/>
            <a:ext cx="2304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"/>
              </a:rPr>
              <a:t>Solicita SE com doc anexado + prazo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3584448"/>
            <a:ext cx="292608" cy="29260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3621024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Titillium Web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3593591"/>
            <a:ext cx="2304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82A30"/>
                </a:solidFill>
                <a:latin typeface="Titillium Web"/>
              </a:rPr>
              <a:t>SE revisa e confirma SLA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3794760"/>
            <a:ext cx="2304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"/>
              </a:rPr>
              <a:t>Aceita ticket, define data em até 48h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224528"/>
            <a:ext cx="292608" cy="292608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4261104"/>
            <a:ext cx="2926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Titillium Web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4233672"/>
            <a:ext cx="2304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82A30"/>
                </a:solidFill>
                <a:latin typeface="Titillium Web"/>
              </a:rPr>
              <a:t>SE prepara demo personalizada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434840"/>
            <a:ext cx="2304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"/>
              </a:rPr>
              <a:t>Baseada nas dores do Discovery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01568" y="1188720"/>
            <a:ext cx="5486400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01568" y="1188720"/>
            <a:ext cx="5486400" cy="34747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93008" y="1216152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Documento de Discovery — campos obrigatórios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01568" y="1627632"/>
            <a:ext cx="1572768" cy="34747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0" y="16916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82A30"/>
                </a:solidFill>
                <a:latin typeface="Titillium Web"/>
              </a:rPr>
              <a:t>Merchant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1691640"/>
            <a:ext cx="37673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C5C"/>
                </a:solidFill>
                <a:latin typeface="Titillium Web"/>
              </a:rPr>
              <a:t>Nome, site, vertical, país de operação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01568" y="1975104"/>
            <a:ext cx="5486400" cy="1371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01568" y="2011680"/>
            <a:ext cx="1572768" cy="34747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4720" y="2075688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82A30"/>
                </a:solidFill>
                <a:latin typeface="Titillium Web"/>
              </a:rPr>
              <a:t>Contato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2075688"/>
            <a:ext cx="37673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C5C"/>
                </a:solidFill>
                <a:latin typeface="Titillium Web"/>
              </a:rPr>
              <a:t>Time de dev interno? Stack utilizado?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01568" y="2359152"/>
            <a:ext cx="5486400" cy="1371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01568" y="2395728"/>
            <a:ext cx="1572768" cy="34747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4720" y="2459736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82A30"/>
                </a:solidFill>
                <a:latin typeface="Titillium Web"/>
              </a:rPr>
              <a:t>Volume estimado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0" y="2459736"/>
            <a:ext cx="37673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C5C"/>
                </a:solidFill>
                <a:latin typeface="Titillium Web"/>
              </a:rPr>
              <a:t>Transações/mês, ticket médio, moedas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01568" y="2743200"/>
            <a:ext cx="5486400" cy="1371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401568" y="2779776"/>
            <a:ext cx="1572768" cy="34747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74720" y="2843784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82A30"/>
                </a:solidFill>
                <a:latin typeface="Titillium Web"/>
              </a:rPr>
              <a:t>Métodos de pagamento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2843784"/>
            <a:ext cx="37673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C5C"/>
                </a:solidFill>
                <a:latin typeface="Titillium Web"/>
              </a:rPr>
              <a:t>Quais usa hoje? O que quer adicionar?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01568" y="3127248"/>
            <a:ext cx="5486400" cy="1371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01568" y="3163824"/>
            <a:ext cx="1572768" cy="34747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74720" y="322783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82A30"/>
                </a:solidFill>
                <a:latin typeface="Titillium Web"/>
              </a:rPr>
              <a:t>Pain points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0" y="3227832"/>
            <a:ext cx="37673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C5C"/>
                </a:solidFill>
                <a:latin typeface="Titillium Web"/>
              </a:rPr>
              <a:t>Por que buscam o Yuno? O que falha hoje?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01568" y="3511296"/>
            <a:ext cx="5486400" cy="1371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01568" y="3547872"/>
            <a:ext cx="1572768" cy="34747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74720" y="3611879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82A30"/>
                </a:solidFill>
                <a:latin typeface="Titillium Web"/>
              </a:rPr>
              <a:t>Jornada do pagador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0" y="3611879"/>
            <a:ext cx="37673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C5C"/>
                </a:solidFill>
                <a:latin typeface="Titillium Web"/>
              </a:rPr>
              <a:t>Como é o checkout? App, web, in-person?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01568" y="3895344"/>
            <a:ext cx="5486400" cy="1371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401568" y="3931920"/>
            <a:ext cx="1572768" cy="34747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74720" y="3995928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82A30"/>
                </a:solidFill>
                <a:latin typeface="Titillium Web"/>
              </a:rPr>
              <a:t>Decisores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0" y="3995928"/>
            <a:ext cx="37673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C5C"/>
                </a:solidFill>
                <a:latin typeface="Titillium Web"/>
              </a:rPr>
              <a:t>CTO, CEO, Head de Produto na sala?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01568" y="4279392"/>
            <a:ext cx="5486400" cy="1371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401568" y="4315968"/>
            <a:ext cx="1572768" cy="34747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474720" y="4379976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82A30"/>
                </a:solidFill>
                <a:latin typeface="Titillium Web"/>
              </a:rPr>
              <a:t>Timeline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0" y="4379976"/>
            <a:ext cx="37673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C5C"/>
                </a:solidFill>
                <a:latin typeface="Titillium Web"/>
              </a:rPr>
              <a:t>Quando querem go-live? Datas críticas?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401568" y="4663440"/>
            <a:ext cx="5486400" cy="1371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20040" y="48920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TO-BE — DEMO PADRÃO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82A30"/>
                </a:solidFill>
                <a:latin typeface="Titillium Web"/>
              </a:rPr>
              <a:t>O que é uma demo de nível 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EBE"/>
                </a:solidFill>
                <a:latin typeface="Titillium Web"/>
              </a:rPr>
              <a:t>Referência interna: a demo da Cinépolis. Esse é o padrão mínimo esperado.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4160520" cy="3749039"/>
          </a:xfrm>
          <a:prstGeom prst="rect">
            <a:avLst/>
          </a:prstGeom>
          <a:solidFill>
            <a:srgbClr val="FFF1F2"/>
          </a:solidFill>
          <a:ln w="12700">
            <a:solidFill>
              <a:srgbClr val="FBC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416052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16152"/>
            <a:ext cx="397763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✕  O que NÃO é uma demo 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64208"/>
            <a:ext cx="39776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Tour genérico pelo dashboard sem contexto do merchant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76272"/>
            <a:ext cx="39776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Demo ao vivo na sandbox sem personalização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88336"/>
            <a:ext cx="39776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Walkthrough de features que o merchant não precisa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200400"/>
            <a:ext cx="39776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Sem mostrar a jornada do pagador do merchant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712464"/>
            <a:ext cx="39776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SE não sabe o vertical nem os pain points do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224528"/>
            <a:ext cx="39776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Nenhuma integração técnica demonstrada (só UI)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188720"/>
            <a:ext cx="4160520" cy="3749039"/>
          </a:xfrm>
          <a:prstGeom prst="rect">
            <a:avLst/>
          </a:prstGeom>
          <a:solidFill>
            <a:srgbClr val="E8EAFE"/>
          </a:solidFill>
          <a:ln w="12700">
            <a:solidFill>
              <a:srgbClr val="C0C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63440" y="1188720"/>
            <a:ext cx="4160520" cy="34747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1216152"/>
            <a:ext cx="397763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✓  Demo de nível SE (padrão Cinépolis)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1664208"/>
            <a:ext cx="39776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Contexto do merchant mapeado no Discovery antes da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176272"/>
            <a:ext cx="39776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Jornada do pagador customizada para o vertical do merchant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688336"/>
            <a:ext cx="39776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Fluxo técnico de integração demonstrado (SDK/API)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3200400"/>
            <a:ext cx="39776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Métodos de pagamento relevantes para o país/merchant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712464"/>
            <a:ext cx="39776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3DS, fallback, orquestração demonstrados se aplicável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224528"/>
            <a:ext cx="39776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Demo narrada com a linguagem do merchant, não de TI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48920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O PAPEL DO 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82A30"/>
                </a:solidFill>
                <a:latin typeface="Titillium Web"/>
              </a:rPr>
              <a:t>Sales Eng + Implementação → Solutions Engineer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807208" cy="1234440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005840"/>
            <a:ext cx="2587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82A30"/>
                </a:solidFill>
                <a:latin typeface="Titillium Web"/>
              </a:rPr>
              <a:t>Sales Engineer
(hoje)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1554480"/>
            <a:ext cx="2587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Pre-sales: demos e technical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810512"/>
            <a:ext cx="2587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Suporte comercial ao BDM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066543"/>
            <a:ext cx="2587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Sem envolvimento pós-contrato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4408" y="960120"/>
            <a:ext cx="2807208" cy="1234440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4136" y="1005840"/>
            <a:ext cx="2587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82A30"/>
                </a:solidFill>
                <a:latin typeface="Titillium Web"/>
              </a:rPr>
              <a:t>Implementação
(hoje)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4136" y="1554480"/>
            <a:ext cx="2587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Onboarding técnico pós-contrato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4136" y="1810512"/>
            <a:ext cx="2587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Integração SDK/API com o merchant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4136" y="2066543"/>
            <a:ext cx="2587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Sem visibilidade do ciclo comercial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960120"/>
            <a:ext cx="2807208" cy="123444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005840"/>
            <a:ext cx="2587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Titillium Web"/>
              </a:rPr>
              <a:t>Solutions Engineer
(To-Be)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554480"/>
            <a:ext cx="2587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Titillium Web"/>
              </a:rPr>
              <a:t>• Ciclo completo: pre-sales → go-live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1810512"/>
            <a:ext cx="2587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Titillium Web"/>
              </a:rPr>
              <a:t>• Dono da demo e da integração técnica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2066543"/>
            <a:ext cx="2587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Titillium Web"/>
              </a:rPr>
              <a:t>• Referência técnica durante o deal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2359152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A30"/>
                </a:solidFill>
                <a:latin typeface="Titillium Web"/>
              </a:rPr>
              <a:t>Responsabilidades do Solutions Engineer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633472"/>
            <a:ext cx="8503920" cy="13716"/>
          </a:xfrm>
          <a:prstGeom prst="rect">
            <a:avLst/>
          </a:prstGeom>
          <a:solidFill>
            <a:srgbClr val="A0A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2706624"/>
            <a:ext cx="2807208" cy="2286000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2706624"/>
            <a:ext cx="2807208" cy="320040"/>
          </a:xfrm>
          <a:prstGeom prst="rect">
            <a:avLst/>
          </a:prstGeom>
          <a:solidFill>
            <a:srgbClr val="28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79" y="2734056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Pré-venda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79" y="3090672"/>
            <a:ext cx="26060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Qualificar fit técnico do merchant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79" y="3547872"/>
            <a:ext cx="26060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Liderar technical discovery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79" y="4005072"/>
            <a:ext cx="26060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Demo personalizada (padrão Cinépolis)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79" y="4462272"/>
            <a:ext cx="26060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Responder RFPs e questões técnicas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64408" y="2706624"/>
            <a:ext cx="2807208" cy="2286000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64408" y="2706624"/>
            <a:ext cx="2807208" cy="320040"/>
          </a:xfrm>
          <a:prstGeom prst="rect">
            <a:avLst/>
          </a:prstGeom>
          <a:solidFill>
            <a:srgbClr val="28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55848" y="2734056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Fechamento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55848" y="3090672"/>
            <a:ext cx="26060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Alinhar escopo técnico (Technical Scoping)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55848" y="3547872"/>
            <a:ext cx="26060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Definir arquitetura da solução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55848" y="4005072"/>
            <a:ext cx="26060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Apoiar negociação com input técnico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55848" y="4462272"/>
            <a:ext cx="26060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Handoff ou execução da implementação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08776" y="2706624"/>
            <a:ext cx="2807208" cy="2286000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08776" y="2706624"/>
            <a:ext cx="2807208" cy="320040"/>
          </a:xfrm>
          <a:prstGeom prst="rect">
            <a:avLst/>
          </a:prstGeom>
          <a:solidFill>
            <a:srgbClr val="28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0216" y="2734056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tillium Web"/>
              </a:rPr>
              <a:t>Pós-contrato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3090672"/>
            <a:ext cx="26060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Liderar onboarding técnico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0216" y="3547872"/>
            <a:ext cx="26060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Integrar SDK/API no ambiente do merchant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0216" y="4005072"/>
            <a:ext cx="26060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Suporte go-live e primeiros 90 dias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0216" y="4462272"/>
            <a:ext cx="26060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C5C"/>
                </a:solidFill>
                <a:latin typeface="Titillium Web"/>
              </a:rPr>
              <a:t>• Identificar upsell com time comercial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48920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E4FE0"/>
                </a:solidFill>
                <a:latin typeface="Titillium Web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82A30"/>
                </a:solidFill>
                <a:latin typeface="Titillium Web"/>
              </a:rPr>
              <a:t>Como colocamos isso em prática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1078992" cy="62179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15568"/>
            <a:ext cx="107899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tillium Web"/>
              </a:rPr>
              <a:t>Sem. 1–2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8760" y="1005840"/>
            <a:ext cx="7315200" cy="621792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1051560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A30"/>
                </a:solidFill>
                <a:latin typeface="Titillium Web"/>
              </a:rPr>
              <a:t>Definir critérios de acionamento do 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316736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"/>
              </a:rPr>
              <a:t>Workshop Sales Leads + SE Leads: thresholds de $, tier, strategic. Documentar e publicar.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810512"/>
            <a:ext cx="1078992" cy="62179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920240"/>
            <a:ext cx="107899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tillium Web"/>
              </a:rPr>
              <a:t>Sem. 2–3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08760" y="1810512"/>
            <a:ext cx="7315200" cy="621792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1856231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A30"/>
                </a:solidFill>
                <a:latin typeface="Titillium Web"/>
              </a:rPr>
              <a:t>Criar o template de 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121408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"/>
              </a:rPr>
              <a:t>SE + BDM co-criam o documento. Testar com 2-3 deals em andamento.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615184"/>
            <a:ext cx="1078992" cy="62179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724912"/>
            <a:ext cx="107899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tillium Web"/>
              </a:rPr>
              <a:t>Sem. 3–4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2615184"/>
            <a:ext cx="7315200" cy="621792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00200" y="2660904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A30"/>
                </a:solidFill>
                <a:latin typeface="Titillium Web"/>
              </a:rPr>
              <a:t>Configurar fluxo de ticket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2926080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"/>
              </a:rPr>
              <a:t>Criar processo de solicitação de SE: canal, form de request, SLA de 48h.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419856"/>
            <a:ext cx="1078992" cy="62179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3529584"/>
            <a:ext cx="107899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tillium Web"/>
              </a:rPr>
              <a:t>Mês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08760" y="3419856"/>
            <a:ext cx="7315200" cy="621792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3465576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A30"/>
                </a:solidFill>
                <a:latin typeface="Titillium Web"/>
              </a:rPr>
              <a:t>Implementar demo padrão Cinépolis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730752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"/>
              </a:rPr>
              <a:t>SE documenta processo de criação de demo. Enablement interno para todos os SEs.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224528"/>
            <a:ext cx="1078992" cy="621792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4334256"/>
            <a:ext cx="107899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tillium Web"/>
              </a:rPr>
              <a:t>Mês 2–3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08760" y="4224528"/>
            <a:ext cx="7315200" cy="621792"/>
          </a:xfrm>
          <a:prstGeom prst="rect">
            <a:avLst/>
          </a:prstGeom>
          <a:solidFill>
            <a:srgbClr val="F4F6F8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00200" y="4270248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82A30"/>
                </a:solidFill>
                <a:latin typeface="Titillium Web"/>
              </a:rPr>
              <a:t>Piloto com 5 deals e retrospectiva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4535424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"/>
              </a:rPr>
              <a:t>Aplicar em 5 deals reais. Feedback de BDMs, SEs e merchants. Ajustar.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48920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EBE"/>
                </a:solidFill>
                <a:latin typeface="Titillium Web SemiBold"/>
              </a:rPr>
              <a:t>W W W . Y . U N 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E4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4773168"/>
            <a:ext cx="109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Titillium Web SemiBold"/>
              </a:rPr>
              <a:t>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477316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Titillium Web SemiBold"/>
              </a:rPr>
              <a:t>W W . Y . U N 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280160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Titillium Web"/>
              </a:rPr>
              <a:t>O objetivo não é ter mais processos.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19456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0CCFF"/>
                </a:solidFill>
                <a:latin typeface="Titillium Web"/>
              </a:rPr>
              <a:t>É garantir que cada merchant que merece uma demo
de nível SE, receba uma.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3456432"/>
            <a:ext cx="4114800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361188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B4FF"/>
                </a:solidFill>
                <a:latin typeface="Titillium Web"/>
              </a:rPr>
              <a:t>Solutions Engineering @ Yuno  —  Abril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
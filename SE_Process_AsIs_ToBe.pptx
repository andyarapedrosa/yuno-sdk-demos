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040"/>
                </a:solidFill>
              </a:rPr>
              <a:t>SOLUTIONS ENGINEER @ YUNO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Redesenhando a Esteira
de Pré-Venda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0AEBE"/>
                </a:solidFill>
              </a:rPr>
              <a:t>As-Is → To-Be  |  Sales Eng + Implementação → Solutions Engineer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0AEBE"/>
                </a:solidFill>
              </a:rPr>
              <a:t>Abril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040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A"/>
                </a:solidFill>
              </a:rPr>
              <a:t>O que vamos cobrir hoje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63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A"/>
                </a:solidFill>
              </a:rPr>
              <a:t>A esteira atual — As-Is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7556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0AEBE"/>
                </a:solidFill>
              </a:rPr>
              <a:t>Mapeamento das 5 etapas e quem está envolvido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502920" cy="50292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77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A"/>
                </a:solidFill>
              </a:rPr>
              <a:t>Os gaps identificados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700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0AEBE"/>
                </a:solidFill>
              </a:rPr>
              <a:t>O que está indefinido e gerando inconsistência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502920" cy="50292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91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A"/>
                </a:solidFill>
              </a:rPr>
              <a:t>A nova visão — To-Be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5844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0AEBE"/>
                </a:solidFill>
              </a:rPr>
              <a:t>Critérios claros, handoff estruturado, demo padrão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502920" cy="50292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51959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206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A"/>
                </a:solidFill>
              </a:rPr>
              <a:t>O papel do Solutions Engineer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4988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0AEBE"/>
                </a:solidFill>
              </a:rPr>
              <a:t>Pré-venda + Implementação unificados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120640"/>
            <a:ext cx="502920" cy="50292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166359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1206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A"/>
                </a:solidFill>
              </a:rPr>
              <a:t>Próximos passos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4132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0AEBE"/>
                </a:solidFill>
              </a:rPr>
              <a:t>Como começamos a implementar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>
                <a:solidFill>
                  <a:srgbClr val="222833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 Esteira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46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0AEBE"/>
                </a:solidFill>
              </a:rPr>
              <a:t>As-Is — Como funciona hoje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040"/>
                </a:solidFill>
              </a:rPr>
              <a:t>AS-IS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A"/>
                </a:solidFill>
              </a:rPr>
              <a:t>A Esteira de Pré-Venda Hoje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737360" cy="13716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2A"/>
                </a:solidFill>
              </a:rPr>
              <a:t>Meeting
Booked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12848"/>
            <a:ext cx="173736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40279"/>
            <a:ext cx="16459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0AEBE"/>
                </a:solidFill>
              </a:rPr>
              <a:t>BDM
+ Merchant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3703" y="17373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0AEBE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95728" y="1280160"/>
            <a:ext cx="1737360" cy="13716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7168" y="13716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2A"/>
                </a:solidFill>
              </a:rPr>
              <a:t>Discovery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2212848"/>
            <a:ext cx="173736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41448" y="2240279"/>
            <a:ext cx="16459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0AEBE"/>
                </a:solidFill>
              </a:rPr>
              <a:t>BDM
+ Merchant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2231" y="17373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0AEBE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4256" y="1280160"/>
            <a:ext cx="1737360" cy="13716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3716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Demo /
Product
Deep Dive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4256" y="2212848"/>
            <a:ext cx="1737360" cy="438912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9976" y="2240279"/>
            <a:ext cx="16459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SE + BDM
+ Merchant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17373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0AEBE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4" y="1280160"/>
            <a:ext cx="1737360" cy="13716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3716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2A"/>
                </a:solidFill>
              </a:rPr>
              <a:t>Negotiation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4" y="2212848"/>
            <a:ext cx="173736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18504" y="2240279"/>
            <a:ext cx="16459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0AEBE"/>
                </a:solidFill>
              </a:rPr>
              <a:t>BDM
+ Merchant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9288" y="17373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0AEBE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11312" y="1280160"/>
            <a:ext cx="1737360" cy="13716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2752" y="13716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2A"/>
                </a:solidFill>
              </a:rPr>
              <a:t>Contracting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11312" y="2212848"/>
            <a:ext cx="173736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7032" y="2240279"/>
            <a:ext cx="16459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0AEBE"/>
                </a:solidFill>
              </a:rPr>
              <a:t>Legal + BDM
+ Merchant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34256" y="2880360"/>
            <a:ext cx="1737360" cy="320040"/>
          </a:xfrm>
          <a:prstGeom prst="rect">
            <a:avLst/>
          </a:prstGeom>
          <a:solidFill>
            <a:srgbClr val="FEF3C7"/>
          </a:solidFill>
          <a:ln w="15240">
            <a:solidFill>
              <a:srgbClr val="FBB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79976" y="289864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924000"/>
                </a:solidFill>
              </a:rPr>
              <a:t>⚠ SE é acionado sem critério definido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A"/>
                </a:solidFill>
              </a:rPr>
              <a:t>Problemas identificados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767328"/>
            <a:ext cx="114300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3840480"/>
            <a:ext cx="3657600" cy="1005840"/>
          </a:xfrm>
          <a:prstGeom prst="rect">
            <a:avLst/>
          </a:prstGeom>
          <a:solidFill>
            <a:srgbClr val="FFF1F1"/>
          </a:solidFill>
          <a:ln w="15240">
            <a:solidFill>
              <a:srgbClr val="FC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86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</a:rPr>
              <a:t>✕  Sem critério de acionamento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Qualquer BDM pode (ou não) acionar o SE — não há regra clara sobre quando e para qual perfil de cliente.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0832" y="3840480"/>
            <a:ext cx="3657600" cy="1005840"/>
          </a:xfrm>
          <a:prstGeom prst="rect">
            <a:avLst/>
          </a:prstGeom>
          <a:solidFill>
            <a:srgbClr val="FFF1F1"/>
          </a:solidFill>
          <a:ln w="15240">
            <a:solidFill>
              <a:srgbClr val="FC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62272" y="3886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</a:rPr>
              <a:t>✕  Sem definição de 'demo'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62272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Demos variam de uma simples walkthrough ao vivo até demos customizadas como a da Cinépolis — sem padrão de qualidade.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84464" y="3840480"/>
            <a:ext cx="3657600" cy="1005840"/>
          </a:xfrm>
          <a:prstGeom prst="rect">
            <a:avLst/>
          </a:prstGeom>
          <a:solidFill>
            <a:srgbClr val="FFF1F1"/>
          </a:solidFill>
          <a:ln w="15240">
            <a:solidFill>
              <a:srgbClr val="FC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75904" y="3886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91C1C"/>
                </a:solidFill>
              </a:rPr>
              <a:t>✕  Discovery chegando incompleto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5904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O SE entra no processo sem contexto suficiente sobre as dores reais do merchant.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040"/>
                </a:solidFill>
              </a:rPr>
              <a:t>AS-IS —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A"/>
                </a:solidFill>
              </a:rPr>
              <a:t>O que está indefinido hoje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3611880" cy="50292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3611880" cy="4572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Quando acionar o 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202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Não existe critério de valor de contrato mínimo ($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880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Não existe critério de tamanho ou tier do merchant (enterprise vs SMB)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40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Não existe critério de relevância estratégica ou vertical prioritário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06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Resultado: SE é acionado de forma ad hoc — frequentemente tarde demais ou para deals pequenos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5968" y="1325880"/>
            <a:ext cx="3611880" cy="50292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1325880"/>
            <a:ext cx="3611880" cy="4572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3716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O que é uma boa demo?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19202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Não há definição interna do que constitui uma 'demo' — varia por BDM e por 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880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Algumas demos são genéricas (walkthrough do produto), outras são customizadas (ex.: Cinépolis)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3840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Sem padrão, a qualidade da demo vira diferencial individual, não do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48006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Resultado: percepção inconsistente do Yuno pelo merchant durante o sales cycle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74736" y="1325880"/>
            <a:ext cx="3611880" cy="50292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74736" y="1325880"/>
            <a:ext cx="3611880" cy="4572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13716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Como o SE recebe o contexto?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19202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Não existe um documento de Discovery padronizado que o BDM entrega ao 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3" y="2880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O SE frequentemente entra na demo sem saber: vertical, volume, stack técnico, pain 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3" y="3840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Resultado: demos genéricas que não conectam com as dores reais do merchant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>
                <a:solidFill>
                  <a:srgbClr val="222833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 Nova Visão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46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0AEBE"/>
                </a:solidFill>
              </a:rPr>
              <a:t>To-Be — Como queremos operar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040"/>
                </a:solidFill>
              </a:rPr>
              <a:t>TO-BE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A"/>
                </a:solidFill>
              </a:rPr>
              <a:t>A Nova Esteira de Pré-Venda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80160"/>
            <a:ext cx="1572768" cy="13716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624" y="1371600"/>
            <a:ext cx="142646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A"/>
                </a:solidFill>
              </a:rPr>
              <a:t>Meeting
Booked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2212848"/>
            <a:ext cx="1572768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2240279"/>
            <a:ext cx="14813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0AEBE"/>
                </a:solidFill>
              </a:rPr>
              <a:t>BDM
+ Merchant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9384" y="17373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BE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75688" y="1280160"/>
            <a:ext cx="1572768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8840" y="1371600"/>
            <a:ext cx="142646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Discovery
(Completo)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75688" y="2212848"/>
            <a:ext cx="1572768" cy="438912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2240279"/>
            <a:ext cx="14813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BDM → abre ticket
c/ doc 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7373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BE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03904" y="1280160"/>
            <a:ext cx="1572768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1371600"/>
            <a:ext cx="142646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Demo
(Padrão 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03904" y="2212848"/>
            <a:ext cx="1572768" cy="438912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9624" y="2240279"/>
            <a:ext cx="14813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SE + BDM
+ Merchant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5816" y="17373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BE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32120" y="1280160"/>
            <a:ext cx="1572768" cy="13716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05272" y="1371600"/>
            <a:ext cx="142646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A"/>
                </a:solidFill>
              </a:rPr>
              <a:t>Negotiation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32120" y="2212848"/>
            <a:ext cx="1572768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2240279"/>
            <a:ext cx="14813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0AEBE"/>
                </a:solidFill>
              </a:rPr>
              <a:t>BDM
+ Merchant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4031" y="17373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BE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0336" y="1280160"/>
            <a:ext cx="1572768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33488" y="1371600"/>
            <a:ext cx="142646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Technical
Scoping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0336" y="2212848"/>
            <a:ext cx="1572768" cy="438912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06055" y="2240279"/>
            <a:ext cx="14813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SE + Time Técnico
do Merchant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2248" y="17373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BE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8552" y="1280160"/>
            <a:ext cx="1572768" cy="13716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61704" y="1371600"/>
            <a:ext cx="142646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A"/>
                </a:solidFill>
              </a:rPr>
              <a:t>Contracting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88552" y="2212848"/>
            <a:ext cx="1572768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40279"/>
            <a:ext cx="14813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0AEBE"/>
                </a:solidFill>
              </a:rPr>
              <a:t>Legal + BDM
+ Merchant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95044" y="2880360"/>
            <a:ext cx="2103120" cy="329184"/>
          </a:xfrm>
          <a:prstGeom prst="rect">
            <a:avLst/>
          </a:prstGeom>
          <a:solidFill>
            <a:srgbClr val="D1FAE5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68196" y="2907792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65F46"/>
                </a:solidFill>
              </a:rPr>
              <a:t>✓ Critério de acionamento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35140" y="2880360"/>
            <a:ext cx="2103120" cy="329184"/>
          </a:xfrm>
          <a:prstGeom prst="rect">
            <a:avLst/>
          </a:prstGeom>
          <a:solidFill>
            <a:srgbClr val="EFF6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08292" y="2907792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E40AF"/>
                </a:solidFill>
              </a:rPr>
              <a:t>✓ Escopo técnico fechado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A"/>
                </a:solidFill>
              </a:rPr>
              <a:t>Melhorias incorporadas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767328"/>
            <a:ext cx="117043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7472" y="3858768"/>
            <a:ext cx="2743200" cy="1005840"/>
          </a:xfrm>
          <a:prstGeom prst="rect">
            <a:avLst/>
          </a:prstGeom>
          <a:solidFill>
            <a:srgbClr val="ECFFF4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3904487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65F46"/>
                </a:solidFill>
              </a:rPr>
              <a:t>✓  Critério de acionamento claro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" y="422452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A"/>
                </a:solidFill>
              </a:rPr>
              <a:t>SE acionado apenas quando o deal atende critérios de valor, porte e estratégia.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55264" y="3858768"/>
            <a:ext cx="2743200" cy="1005840"/>
          </a:xfrm>
          <a:prstGeom prst="rect">
            <a:avLst/>
          </a:prstGeom>
          <a:solidFill>
            <a:srgbClr val="ECFFF4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6704" y="3904487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65F46"/>
                </a:solidFill>
              </a:rPr>
              <a:t>✓  Discovery estruturado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46704" y="422452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A"/>
                </a:solidFill>
              </a:rPr>
              <a:t>BDM abre ticket com documento de Discovery completo antes de qualquer contato do SE.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63056" y="3858768"/>
            <a:ext cx="2743200" cy="1005840"/>
          </a:xfrm>
          <a:prstGeom prst="rect">
            <a:avLst/>
          </a:prstGeom>
          <a:solidFill>
            <a:srgbClr val="ECFFF4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54496" y="3904487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65F46"/>
                </a:solidFill>
              </a:rPr>
              <a:t>✓  Reunião de Technical Scoping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54496" y="422452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A"/>
                </a:solidFill>
              </a:rPr>
              <a:t>SE + time técnico do merchant alinham escopo antes de assinar — evita surpresas na implementação.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70848" y="3858768"/>
            <a:ext cx="2743200" cy="1005840"/>
          </a:xfrm>
          <a:prstGeom prst="rect">
            <a:avLst/>
          </a:prstGeom>
          <a:solidFill>
            <a:srgbClr val="ECFFF4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62288" y="3904487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65F46"/>
                </a:solidFill>
              </a:rPr>
              <a:t>✓  Demo padrão Cinépolis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422452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A"/>
                </a:solidFill>
              </a:rPr>
              <a:t>Todas as demos são personalizadas, técnicas e direcionadas às dores reais do merchant.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040"/>
                </a:solidFill>
              </a:rPr>
              <a:t>TO-BE — CRITÉRIOS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A"/>
                </a:solidFill>
              </a:rPr>
              <a:t>Quando acionar o Solutions Engineer?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0AEBE"/>
                </a:solidFill>
              </a:rPr>
              <a:t>O SE deve ser acionado quando o deal atender pelo menos um dos critérios abaixo: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486400" cy="196596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640080" cy="196596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A2A"/>
                </a:solidFill>
              </a:rPr>
              <a:t>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A"/>
                </a:solidFill>
              </a:rPr>
              <a:t>Valor de Contrato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7" y="21488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A"/>
                </a:solidFill>
              </a:rPr>
              <a:t>TAR acima do threshold definido
(ex.: &gt; $50k USD anuais)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7007" y="2788920"/>
            <a:ext cx="46634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7" y="28803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0AEBE"/>
                </a:solidFill>
              </a:rPr>
              <a:t>ℹ  Deals menores podem ser atendidos pelo BDM com demo self-serve ou template.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691640"/>
            <a:ext cx="5486400" cy="196596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691640"/>
            <a:ext cx="640080" cy="196596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194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A2A"/>
                </a:solidFill>
              </a:rPr>
              <a:t>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A"/>
                </a:solidFill>
              </a:rPr>
              <a:t>Tamanho do Merchant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21488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A"/>
                </a:solidFill>
              </a:rPr>
              <a:t>Enterprise ou Mid-Market
(volume de transações e equipe técnica)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67728" y="2788920"/>
            <a:ext cx="46634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7728" y="28803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0AEBE"/>
                </a:solidFill>
              </a:rPr>
              <a:t>ℹ  SMBs com integração simples seguem fluxo simplificado sem 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5486400" cy="196596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640080" cy="196596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3891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A2A"/>
                </a:solidFill>
              </a:rPr>
              <a:t>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9776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A"/>
                </a:solidFill>
              </a:rPr>
              <a:t>Conta Estratégica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3434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A"/>
                </a:solidFill>
              </a:rPr>
              <a:t>Merchant em vertical prioritária
(ex.: fintech, e-commerce enterprise, governo)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07007" y="4983480"/>
            <a:ext cx="46634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7007" y="50749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0AEBE"/>
                </a:solidFill>
              </a:rPr>
              <a:t>ℹ  Qualquer deal marcado como 'strategic account' pelo head comercial.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886200"/>
            <a:ext cx="5486400" cy="196596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886200"/>
            <a:ext cx="640080" cy="196596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43891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A2A"/>
                </a:solidFill>
              </a:rPr>
              <a:t>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7728" y="39776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A"/>
                </a:solidFill>
              </a:rPr>
              <a:t>Complexidade Técnica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7728" y="43434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A"/>
                </a:solidFill>
              </a:rPr>
              <a:t>Stack customizado, múltiplos métodos,
3DS, orquestração complexa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4983480"/>
            <a:ext cx="46634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67728" y="50749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0AEBE"/>
                </a:solidFill>
              </a:rPr>
              <a:t>ℹ  Quando o BDM identificar necessidade técnica que ele não consegue responder sozinho.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040"/>
                </a:solidFill>
              </a:rPr>
              <a:t>TO-BE —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A"/>
                </a:solidFill>
              </a:rPr>
              <a:t>O Ticket de Discovery: BDM → 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0AEBE"/>
                </a:solidFill>
              </a:rPr>
              <a:t>Antes de qualquer interação do SE com o merchant, o BDM abre um ticket com o documento abaixo preenchido: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474720" cy="484632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474720" cy="4114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733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Fluxo de Solicitação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194560"/>
            <a:ext cx="347472" cy="347472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21991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194560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BDM qualifica o deal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4414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0AEBE"/>
                </a:solidFill>
              </a:rPr>
              <a:t>Avalia se atende os critérios de acionamento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980944"/>
            <a:ext cx="347472" cy="347472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008375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2980944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BDM preenche Discovery doc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227832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0AEBE"/>
                </a:solidFill>
              </a:rPr>
              <a:t>Completa o template padronizado com info do merchant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767328"/>
            <a:ext cx="347472" cy="347472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9476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7673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BDM abre ticket (Jira/Slack)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0142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0AEBE"/>
                </a:solidFill>
              </a:rPr>
              <a:t>Solicita SE com documento anexado + prazo desejado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4553712"/>
            <a:ext cx="347472" cy="347472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581144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553712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SE revisa e confirma SLA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800600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0AEBE"/>
                </a:solidFill>
              </a:rPr>
              <a:t>Aceita o ticket e define data da demo em até 48h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340096"/>
            <a:ext cx="347472" cy="347472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367528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34009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SE prepara demo personalizada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5586983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0AEBE"/>
                </a:solidFill>
              </a:rPr>
              <a:t>Baseada nas dores identificadas no Discovery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0520" y="1645920"/>
            <a:ext cx="7772400" cy="484632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60520" y="1645920"/>
            <a:ext cx="7772400" cy="41148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51960" y="1673352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Documento de Discovery — campos obrigatórios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212848"/>
            <a:ext cx="1920240" cy="41148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15968" y="226771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Merchant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226771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Nome, site, vertical, país de operação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0" y="2651760"/>
            <a:ext cx="7680960" cy="1828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51960" y="2688336"/>
            <a:ext cx="1920240" cy="41148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15968" y="27432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Contato técnico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27432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Existe time de dev interno? Stack utilizado?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51960" y="3127248"/>
            <a:ext cx="7680960" cy="1828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51960" y="3163824"/>
            <a:ext cx="1920240" cy="41148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15968" y="321868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Volume estimado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321868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Transações/mês, ticket médio, moedas relevantes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0" y="3602736"/>
            <a:ext cx="7680960" cy="1828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51960" y="3639312"/>
            <a:ext cx="1920240" cy="41148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15968" y="3694176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Métodos de pagamento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3694176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Quais métodos usa hoje? O que quer adicionar?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4078224"/>
            <a:ext cx="7680960" cy="1828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51960" y="4114800"/>
            <a:ext cx="1920240" cy="41148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15968" y="4169663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Pain points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63640" y="4169663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Por que estão buscando o Yuno? O que está falhando hoje?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51960" y="4553712"/>
            <a:ext cx="7680960" cy="1828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251960" y="4590288"/>
            <a:ext cx="1920240" cy="41148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15968" y="4645151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Jornada do pagador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4645151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Como é o checkout hoje? App, web, in-person?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51960" y="5029200"/>
            <a:ext cx="7680960" cy="1828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251960" y="5065776"/>
            <a:ext cx="1920240" cy="41148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15968" y="512064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Decisores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63640" y="512064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Quem está na sala? CTO, CEO, Head de Produto?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51960" y="5504688"/>
            <a:ext cx="7680960" cy="1828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51960" y="5541264"/>
            <a:ext cx="1920240" cy="41148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15968" y="559612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Timeline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63640" y="55961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Quando querem go-live? Há algum evento/data crítica?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51960" y="5980176"/>
            <a:ext cx="7680960" cy="1828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51960" y="6016752"/>
            <a:ext cx="1920240" cy="41148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15968" y="6071616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A"/>
                </a:solidFill>
              </a:rPr>
              <a:t>Notas livres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63640" y="6071616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Qualquer contexto adicional que o SE precisa saber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51960" y="6455664"/>
            <a:ext cx="7680960" cy="1828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040"/>
                </a:solidFill>
              </a:rPr>
              <a:t>TO-BE — DEMO PADRÃO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A"/>
                </a:solidFill>
              </a:rPr>
              <a:t>O que é uma demo de nível 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0AEBE"/>
                </a:solidFill>
              </a:rPr>
              <a:t>A referência interna: a demo feita para a Cinépolis. Esse é o padrão mínimo esperado.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303520" cy="4572000"/>
          </a:xfrm>
          <a:prstGeom prst="rect">
            <a:avLst/>
          </a:prstGeom>
          <a:solidFill>
            <a:srgbClr val="FFF1F2"/>
          </a:solidFill>
          <a:ln w="15240">
            <a:solidFill>
              <a:srgbClr val="FBC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303520" cy="43891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1907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✕  O que NÃO é uma demo 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6771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Tour genérico pelo dashboard sem contexto do merchant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7977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Demo ao vivo da sandbox sem personalização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Walkthrough de features que o merchant não precisa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0390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Sem mostrar a jornada do pagador do merchant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159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SE não sabe o vertical nem os pain points do cliente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828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Nenhuma integração técnica demonstrada (só UI)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1691640"/>
            <a:ext cx="5852160" cy="4572000"/>
          </a:xfrm>
          <a:prstGeom prst="rect">
            <a:avLst/>
          </a:prstGeom>
          <a:solidFill>
            <a:srgbClr val="ECFFF4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9320" y="1691640"/>
            <a:ext cx="5852160" cy="43891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9048" y="1719072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✓  Demo de nível SE (padrão Cinépolis)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267712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Contexto do merchant mapeado no Discovery antes da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779776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Jornada do pagador customizada para o vertical do merchant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29184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Fluxo técnico de integração demonstrado (SDK/API)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803904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Métodos de pagamento relevantes para o país/merchant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31596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Demonstração de 3DS, fallback, orquestração se aplicável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828032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Demo narrada com a linguagem do merchant, não de TI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040"/>
                </a:solidFill>
              </a:rPr>
              <a:t>O PAPEL DO 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2A"/>
                </a:solidFill>
              </a:rPr>
              <a:t>Sales Eng + Implementação → Solutions Engineer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3383280" cy="1371600"/>
          </a:xfrm>
          <a:prstGeom prst="rect">
            <a:avLst/>
          </a:prstGeom>
          <a:solidFill>
            <a:srgbClr val="EFF6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3383280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441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Sales Engineer (hoje)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• Pre-sales: demos e technical 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756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• Suporte comercial ao BDM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6829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• Sem envolvimento pós-contrato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325880"/>
            <a:ext cx="3383280" cy="1371600"/>
          </a:xfrm>
          <a:prstGeom prst="rect">
            <a:avLst/>
          </a:prstGeom>
          <a:solidFill>
            <a:srgbClr val="ECFFF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325880"/>
            <a:ext cx="3383280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4528" y="13441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Implementação (hoje)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1783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• Onboarding técnico pós-contrato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0756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• Integração SDK/API com o merchant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236829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• Sem visibilidade do ciclo comercial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17373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BB040"/>
                </a:solidFill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17373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BB040"/>
                </a:solidFill>
              </a:rPr>
              <a:t>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325880"/>
            <a:ext cx="4114800" cy="1371600"/>
          </a:xfrm>
          <a:prstGeom prst="rect">
            <a:avLst/>
          </a:prstGeom>
          <a:solidFill>
            <a:srgbClr val="FFF8EB"/>
          </a:solidFill>
          <a:ln w="15240">
            <a:solidFill>
              <a:srgbClr val="FBB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325880"/>
            <a:ext cx="4114800" cy="36576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82127" y="13441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Solutions Engineer (To-Be)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17830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• Ciclo completo: pre-sales → go-live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2075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• Dono da demo e da integração técnica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60" y="23682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A"/>
                </a:solidFill>
              </a:rPr>
              <a:t>• Referência técnica durante o deal comercial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9077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A"/>
                </a:solidFill>
              </a:rPr>
              <a:t>Responsabilidades do Solutions Engineer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337560"/>
            <a:ext cx="3657600" cy="32004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337560"/>
            <a:ext cx="3657600" cy="38404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36499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Pré-venda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822191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Qualificar fit técnico do merchant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41655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Liderar technical discovery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01091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Construir e entregar demo personalizada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60527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Responder RFPs e questões técnicas do deal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61688" y="3337560"/>
            <a:ext cx="3657600" cy="32004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61688" y="3337560"/>
            <a:ext cx="3657600" cy="38404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71416" y="336499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Fechamento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1416" y="3822191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Alinhar escopo técnico de integração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441655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Definir arquitetura da solução com merchant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71416" y="501091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Apoiar negociação com input técnico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71416" y="560527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Handoff para implementação (ou executar)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66175" y="3337560"/>
            <a:ext cx="3657600" cy="320040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66175" y="3337560"/>
            <a:ext cx="3657600" cy="38404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75903" y="336499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Pós-contrato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75903" y="3822191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Liderar onboarding técnico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75903" y="441655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Integrar SDK/API no ambiente do merchant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75903" y="501091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Suporte go-live e primeiros 90 dias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75903" y="5605272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A"/>
                </a:solidFill>
              </a:rPr>
              <a:t>• Identificar upsell com time comercial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040"/>
                </a:solidFill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A"/>
                </a:solidFill>
              </a:rPr>
              <a:t>Como colocamos isso em prática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371600" cy="77724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39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Semana 1-2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325880"/>
            <a:ext cx="9692640" cy="77724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1" y="137160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A"/>
                </a:solidFill>
              </a:rPr>
              <a:t>Definir e validar os critérios de acionamento do 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4831" y="169164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0AEBE"/>
                </a:solidFill>
              </a:rPr>
              <a:t>Workshop com Sales Leads + SE Leads para estabelecer thresholds ($, tier, strategic). Documentar e publicar.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1371600" cy="77724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468879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Semana 2-3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2331720"/>
            <a:ext cx="9692640" cy="77724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4831" y="2377439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A"/>
                </a:solidFill>
              </a:rPr>
              <a:t>Criar o template de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831" y="2697479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0AEBE"/>
                </a:solidFill>
              </a:rPr>
              <a:t>SE + BDM co-criam o documento de Discovery padronizado. Testar com 2-3 deals em andamento.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60"/>
            <a:ext cx="1371600" cy="77724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Semana 3-4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5960" y="3337560"/>
            <a:ext cx="9692640" cy="77724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1" y="338328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A"/>
                </a:solidFill>
              </a:rPr>
              <a:t>Configurar o fluxo de ticket (Jira/Slack)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1" y="37033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0AEBE"/>
                </a:solidFill>
              </a:rPr>
              <a:t>Criar o processo de solicitação de SE: canal, forma de request, SLA de resposta (48h).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343400"/>
            <a:ext cx="1371600" cy="77724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8056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Mês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4343400"/>
            <a:ext cx="9692640" cy="77724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84831" y="4389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A"/>
                </a:solidFill>
              </a:rPr>
              <a:t>Implementar demo padrão Cinépolis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4831" y="470916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0AEBE"/>
                </a:solidFill>
              </a:rPr>
              <a:t>SE atualiza e documenta o processo de criação de demo. Todos os SEs passam por enablement interno.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1371600" cy="77724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864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Mês 2-3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65960" y="5349240"/>
            <a:ext cx="9692640" cy="777240"/>
          </a:xfrm>
          <a:prstGeom prst="rect">
            <a:avLst/>
          </a:prstGeom>
          <a:solidFill>
            <a:srgbClr val="F4F6F8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4831" y="539496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A"/>
                </a:solidFill>
              </a:rPr>
              <a:t>Piloto com 5 deals e retrospectiva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1" y="571500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0AEBE"/>
                </a:solidFill>
              </a:rPr>
              <a:t>Aplicar o novo processo em 5 deals reais. Coletar feedback de BDMs, SEs e merchants. Ajustar.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O objetivo não é ter mais processos.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A0AEBE"/>
                </a:solidFill>
              </a:rPr>
              <a:t>É garantir que cada merchant que merece
uma demo de nível SE, receba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977639"/>
            <a:ext cx="5486400" cy="18288"/>
          </a:xfrm>
          <a:prstGeom prst="rect">
            <a:avLst/>
          </a:prstGeom>
          <a:solidFill>
            <a:srgbClr val="FB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60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0AEBE"/>
                </a:solidFill>
              </a:rPr>
              <a:t>Solutions Engineering @ Yuno  —  Abril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
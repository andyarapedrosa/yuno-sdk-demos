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097280" cy="6858000"/>
          </a:xfrm>
          <a:prstGeom prst="rect">
            <a:avLst/>
          </a:prstGeom>
          <a:solidFill>
            <a:srgbClr val="2838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 SemiBold"/>
              </a:rPr>
              <a:t>Y U N 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200400" cy="164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Titillium Web"/>
              </a:rPr>
              <a:t>Solutions
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0CCFF"/>
                </a:solidFill>
                <a:latin typeface="Titillium Web"/>
              </a:rPr>
              <a:t>Redesenhando a
Esteira de Pré-Venda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0D0"/>
                </a:solidFill>
                <a:latin typeface="Titillium Web SemiBold"/>
              </a:rPr>
              <a:t>Abril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0116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565F0"/>
                </a:solidFill>
                <a:latin typeface="Titillium Web"/>
              </a:rPr>
              <a:t>AS-IS → TO-BE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2316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itillium Web"/>
              </a:rPr>
              <a:t>Sales Eng + Implementação
→ Solutions Engineer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3886200"/>
            <a:ext cx="5943600" cy="1828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4069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82A8"/>
                </a:solidFill>
                <a:latin typeface="Titillium Web"/>
              </a:rPr>
              <a:t>Definindo critérios, padronizando demos
e unificando o ciclo técnico de pré-venda.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-274320" y="-1828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0" b="1" i="0">
                <a:solidFill>
                  <a:srgbClr val="5060E8"/>
                </a:solidFill>
                <a:latin typeface="Titillium Web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B4FF"/>
                </a:solidFill>
                <a:latin typeface="Titillium Web SemiBold"/>
              </a:rPr>
              <a:t>A ESTEIRA ATUAL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Titillium Web"/>
              </a:rPr>
              <a:t>As-Is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474720"/>
            <a:ext cx="4572000" cy="201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CCFF"/>
                </a:solidFill>
                <a:latin typeface="Titillium Web"/>
              </a:rPr>
              <a:t>Como funciona hoje — e o que está faltando.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AS-IS  —  A ESTEIRA DE PRÉ-VENDA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E3A"/>
                </a:solidFill>
                <a:latin typeface="Titillium Web"/>
              </a:rPr>
              <a:t>Cinco etapas. O SE é acionado sem critério.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097280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4419" y="2345436"/>
            <a:ext cx="8705088" cy="20116"/>
          </a:xfrm>
          <a:prstGeom prst="rect">
            <a:avLst/>
          </a:prstGeom>
          <a:solidFill>
            <a:srgbClr val="D0D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9202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926079"/>
            <a:ext cx="1325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E3A"/>
                </a:solidFill>
                <a:latin typeface="Titillium Web"/>
              </a:rPr>
              <a:t>Meeting
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53872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82A8"/>
                </a:solidFill>
                <a:latin typeface="Titillium Web"/>
              </a:rPr>
              <a:t>BDM + Merchant</a:t>
            </a:r>
          </a:p>
        </p:txBody>
      </p:sp>
      <p:sp>
        <p:nvSpPr>
          <p:cNvPr id="12" name="Oval 11"/>
          <p:cNvSpPr/>
          <p:nvPr/>
        </p:nvSpPr>
        <p:spPr>
          <a:xfrm>
            <a:off x="2816352" y="19202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0574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926079"/>
            <a:ext cx="1325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E3A"/>
                </a:solidFill>
                <a:latin typeface="Titillium Web"/>
              </a:rPr>
              <a:t>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353872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82A8"/>
                </a:solidFill>
                <a:latin typeface="Titillium Web"/>
              </a:rPr>
              <a:t>BDM + Merchant</a:t>
            </a:r>
          </a:p>
        </p:txBody>
      </p:sp>
      <p:sp>
        <p:nvSpPr>
          <p:cNvPr id="16" name="Oval 15"/>
          <p:cNvSpPr/>
          <p:nvPr/>
        </p:nvSpPr>
        <p:spPr>
          <a:xfrm>
            <a:off x="4992624" y="1920240"/>
            <a:ext cx="868680" cy="868680"/>
          </a:xfrm>
          <a:prstGeom prst="ellipse">
            <a:avLst/>
          </a:prstGeom>
          <a:solidFill>
            <a:srgbClr val="3E4FE0"/>
          </a:solidFill>
          <a:ln w="2540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2624" y="20574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itillium Web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2926079"/>
            <a:ext cx="1325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E3A"/>
                </a:solidFill>
                <a:latin typeface="Titillium Web"/>
              </a:rPr>
              <a:t>Demo / Deep
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353872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82A8"/>
                </a:solidFill>
                <a:latin typeface="Titillium Web"/>
              </a:rPr>
              <a:t>SE + BDM + Merchant</a:t>
            </a:r>
          </a:p>
        </p:txBody>
      </p:sp>
      <p:sp>
        <p:nvSpPr>
          <p:cNvPr id="20" name="Oval 19"/>
          <p:cNvSpPr/>
          <p:nvPr/>
        </p:nvSpPr>
        <p:spPr>
          <a:xfrm>
            <a:off x="7168896" y="19202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0574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6" y="2926079"/>
            <a:ext cx="1325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E3A"/>
                </a:solidFill>
                <a:latin typeface="Titillium Web"/>
              </a:rPr>
              <a:t>Negotiation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353872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82A8"/>
                </a:solidFill>
                <a:latin typeface="Titillium Web"/>
              </a:rPr>
              <a:t>BDM + Merchant</a:t>
            </a:r>
          </a:p>
        </p:txBody>
      </p:sp>
      <p:sp>
        <p:nvSpPr>
          <p:cNvPr id="24" name="Oval 23"/>
          <p:cNvSpPr/>
          <p:nvPr/>
        </p:nvSpPr>
        <p:spPr>
          <a:xfrm>
            <a:off x="9345167" y="19202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7" y="20574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7" y="2926079"/>
            <a:ext cx="1325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E3A"/>
                </a:solidFill>
                <a:latin typeface="Titillium Web"/>
              </a:rPr>
              <a:t>Contracting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7" y="353872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82A8"/>
                </a:solidFill>
                <a:latin typeface="Titillium Web"/>
              </a:rPr>
              <a:t>Legal + BDM
+ Merchant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4114800"/>
            <a:ext cx="2331720" cy="384048"/>
          </a:xfrm>
          <a:prstGeom prst="rect">
            <a:avLst/>
          </a:prstGeom>
          <a:solidFill>
            <a:srgbClr val="FFF3CC"/>
          </a:solidFill>
          <a:ln w="10160">
            <a:solidFill>
              <a:srgbClr val="F5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46904" y="4160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04000"/>
                </a:solidFill>
                <a:latin typeface="Titillium Web"/>
              </a:rPr>
              <a:t>⚠  Sem critério para acionar o 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5212080"/>
            <a:ext cx="12188952" cy="164592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257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2180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Sem critério de acionamento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63270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Não há regra clara sobre quando ou para qual cliente chamar o 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5696" y="5257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0056" y="532180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Sem definição de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0056" y="563270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Qualidade varia de BDM para BDM. Sem padrão mínimo estabelecido.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5257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7112" y="532180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Discovery incompleto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563270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SE entra sem contexto das dores reais. Demo genérica, sem impacto.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080F8"/>
                </a:solidFill>
                <a:latin typeface="Titillium Web"/>
              </a:rPr>
              <a:t>GAPS  —  O QUE ESTÁ INDEFINIDO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Titillium Web"/>
              </a:rPr>
              <a:t>Três perguntas sem resposta.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0972800" cy="9144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Titillium Web"/>
              </a:rPr>
              <a:t>Quando acionar o SE?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78608"/>
            <a:ext cx="3383280" cy="9144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Sem critério de $ de contrato mínimo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930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Sem critério de tamanho / tier do merchant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42816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Sem critério de relevância estratégica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926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Resultado: SE acionado ad hoc, tarde demais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3258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103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Titillium Web"/>
              </a:rPr>
              <a:t>O que é uma boa demo?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5696" y="2578608"/>
            <a:ext cx="3383280" cy="9144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274320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Não existe definição interna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34930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Varia de walkthrough a demos como a da Cinépolis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4242816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Qualidade vira diferencial individual, não do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49926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Resultado: percepção inconsistente da Yuno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13258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103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Titillium Web"/>
              </a:rPr>
              <a:t>Como o SE recebe contexto?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02752" y="2578608"/>
            <a:ext cx="3383280" cy="9144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74320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Sem documento de Discovery padronizado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4930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 desconhece: vertical, volume, stack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242816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Sem pain points mapeados antes da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9926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— Resultado: demos genéricas sem impacto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-274320" y="-1828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0" b="1" i="0">
                <a:solidFill>
                  <a:srgbClr val="5060E8"/>
                </a:solidFill>
                <a:latin typeface="Titillium Web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B4FF"/>
                </a:solidFill>
                <a:latin typeface="Titillium Web SemiBold"/>
              </a:rPr>
              <a:t>A NOVA VISÃO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Titillium Web"/>
              </a:rPr>
              <a:t>To-Be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474720"/>
            <a:ext cx="4572000" cy="201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CCFF"/>
                </a:solidFill>
                <a:latin typeface="Titillium Web"/>
              </a:rPr>
              <a:t>Critérios claros. Handoff estruturado. Demo padrão.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  —  A NOVA ESTEIRA DE PRÉ-VENDA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E3A"/>
                </a:solidFill>
                <a:latin typeface="Titillium Web"/>
              </a:rPr>
              <a:t>Seis etapas. SE entra com critério e contexto.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097280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5820" y="2299716"/>
            <a:ext cx="9052560" cy="20116"/>
          </a:xfrm>
          <a:prstGeom prst="rect">
            <a:avLst/>
          </a:prstGeom>
          <a:solidFill>
            <a:srgbClr val="D0D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920240"/>
            <a:ext cx="77724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7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Meeting
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7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BDM + Merchant</a:t>
            </a:r>
          </a:p>
        </p:txBody>
      </p:sp>
      <p:sp>
        <p:nvSpPr>
          <p:cNvPr id="12" name="Oval 11"/>
          <p:cNvSpPr/>
          <p:nvPr/>
        </p:nvSpPr>
        <p:spPr>
          <a:xfrm>
            <a:off x="2267712" y="1920240"/>
            <a:ext cx="777240" cy="777240"/>
          </a:xfrm>
          <a:prstGeom prst="ellipse">
            <a:avLst/>
          </a:prstGeom>
          <a:solidFill>
            <a:srgbClr val="3E4FE0"/>
          </a:solidFill>
          <a:ln w="2540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67712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Discovery
(Completo)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BDM → ticket
c/ doc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6272" y="4023360"/>
            <a:ext cx="2011680" cy="347472"/>
          </a:xfrm>
          <a:prstGeom prst="rect">
            <a:avLst/>
          </a:prstGeom>
          <a:solidFill>
            <a:srgbClr val="EDEFFD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67712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E4FE0"/>
                </a:solidFill>
                <a:latin typeface="Titillium Web"/>
              </a:rPr>
              <a:t>✓ Critério acionado</a:t>
            </a:r>
          </a:p>
        </p:txBody>
      </p:sp>
      <p:sp>
        <p:nvSpPr>
          <p:cNvPr id="18" name="Oval 17"/>
          <p:cNvSpPr/>
          <p:nvPr/>
        </p:nvSpPr>
        <p:spPr>
          <a:xfrm>
            <a:off x="4078224" y="1920240"/>
            <a:ext cx="777240" cy="777240"/>
          </a:xfrm>
          <a:prstGeom prst="ellipse">
            <a:avLst/>
          </a:prstGeom>
          <a:solidFill>
            <a:srgbClr val="3E4FE0"/>
          </a:solidFill>
          <a:ln w="2540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78224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2191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Demo
(Padrão 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2191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SE + BDM
+ Merchant</a:t>
            </a:r>
          </a:p>
        </p:txBody>
      </p:sp>
      <p:sp>
        <p:nvSpPr>
          <p:cNvPr id="22" name="Oval 21"/>
          <p:cNvSpPr/>
          <p:nvPr/>
        </p:nvSpPr>
        <p:spPr>
          <a:xfrm>
            <a:off x="5888736" y="1920240"/>
            <a:ext cx="77724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2703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Negotiation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2703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BDM + Merchant</a:t>
            </a:r>
          </a:p>
        </p:txBody>
      </p:sp>
      <p:sp>
        <p:nvSpPr>
          <p:cNvPr id="26" name="Oval 25"/>
          <p:cNvSpPr/>
          <p:nvPr/>
        </p:nvSpPr>
        <p:spPr>
          <a:xfrm>
            <a:off x="7699248" y="1920240"/>
            <a:ext cx="777240" cy="777240"/>
          </a:xfrm>
          <a:prstGeom prst="ellipse">
            <a:avLst/>
          </a:prstGeom>
          <a:solidFill>
            <a:srgbClr val="3E4FE0"/>
          </a:solidFill>
          <a:ln w="2540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Technical
Scoping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SE + Time Técnico
do Merchant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808" y="4023360"/>
            <a:ext cx="2011680" cy="347472"/>
          </a:xfrm>
          <a:prstGeom prst="rect">
            <a:avLst/>
          </a:prstGeom>
          <a:solidFill>
            <a:srgbClr val="EDEFFD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E4FE0"/>
                </a:solidFill>
                <a:latin typeface="Titillium Web"/>
              </a:rPr>
              <a:t>✓ Escopo fechado</a:t>
            </a:r>
          </a:p>
        </p:txBody>
      </p:sp>
      <p:sp>
        <p:nvSpPr>
          <p:cNvPr id="32" name="Oval 31"/>
          <p:cNvSpPr/>
          <p:nvPr/>
        </p:nvSpPr>
        <p:spPr>
          <a:xfrm>
            <a:off x="9509760" y="1920240"/>
            <a:ext cx="77724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204825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4FE0"/>
                </a:solidFill>
                <a:latin typeface="Titillium Web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825496"/>
            <a:ext cx="1289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E3A"/>
                </a:solidFill>
                <a:latin typeface="Titillium Web"/>
              </a:rPr>
              <a:t>Contracting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3410712"/>
            <a:ext cx="1289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82A8"/>
                </a:solidFill>
                <a:latin typeface="Titillium Web"/>
              </a:rPr>
              <a:t>Legal + BDM
+ Merchant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F7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5532120"/>
            <a:ext cx="12188952" cy="36576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6509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" y="5669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E3A"/>
                </a:solidFill>
                <a:latin typeface="Titillium Web"/>
              </a:rPr>
              <a:t>Critério claro de quando acionar o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0712" y="56509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5669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E3A"/>
                </a:solidFill>
                <a:latin typeface="Titillium Web"/>
              </a:rPr>
              <a:t>Discovery completo entregue antes da 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8504" y="56509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5669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E3A"/>
                </a:solidFill>
                <a:latin typeface="Titillium Web"/>
              </a:rPr>
              <a:t>Technical Scoping antes de assinar contrato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26296" y="56509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18904" y="5669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E3A"/>
                </a:solidFill>
                <a:latin typeface="Titillium Web"/>
              </a:rPr>
              <a:t>Demo sempre no padrão Cinépolis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080F8"/>
                </a:solidFill>
                <a:latin typeface="Titillium Web"/>
              </a:rPr>
              <a:t>TO-BE  —  CRITÉRIOS DE ACIONAMENTO DO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itillium Web"/>
              </a:rPr>
              <a:t>SE é acionado quando o deal atende
 pelo menos um critério.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10972800" cy="10972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349240" cy="2103120"/>
          </a:xfrm>
          <a:prstGeom prst="rect">
            <a:avLst/>
          </a:prstGeom>
          <a:solidFill>
            <a:srgbClr val="121428"/>
          </a:solidFill>
          <a:ln w="10160">
            <a:solidFill>
              <a:srgbClr val="3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349240" cy="5486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039112"/>
            <a:ext cx="640080" cy="640080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214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itillium Web"/>
              </a:rP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1" y="20391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Valor de Contrato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2423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TAR acima do threshold definido (ex.: &gt; $50k anuais)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7631" y="2971800"/>
            <a:ext cx="4023360" cy="9144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1" y="31089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80A8"/>
                </a:solidFill>
                <a:latin typeface="Titillium Web"/>
              </a:rPr>
              <a:t>Deals menores seguem fluxo simplificado sem 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7" y="1783080"/>
            <a:ext cx="5349240" cy="2103120"/>
          </a:xfrm>
          <a:prstGeom prst="rect">
            <a:avLst/>
          </a:prstGeom>
          <a:solidFill>
            <a:srgbClr val="121428"/>
          </a:solidFill>
          <a:ln w="10160">
            <a:solidFill>
              <a:srgbClr val="3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7" y="1783080"/>
            <a:ext cx="5349240" cy="5486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2039112"/>
            <a:ext cx="640080" cy="640080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1214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itillium Web"/>
              </a:rPr>
              <a:t>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20391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Tamanho do Merchant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2423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Enterprise ou Mid-Market com equipe técnica interna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199" y="2971800"/>
            <a:ext cx="4023360" cy="9144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9" y="31089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80A8"/>
                </a:solidFill>
                <a:latin typeface="Titillium Web"/>
              </a:rPr>
              <a:t>Contas menores com integração simples não acionam 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5349240" cy="2103120"/>
          </a:xfrm>
          <a:prstGeom prst="rect">
            <a:avLst/>
          </a:prstGeom>
          <a:solidFill>
            <a:srgbClr val="121428"/>
          </a:solidFill>
          <a:ln w="10160">
            <a:solidFill>
              <a:srgbClr val="3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5349240" cy="5486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" y="4370832"/>
            <a:ext cx="640080" cy="640080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45312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itillium Web"/>
              </a:rPr>
              <a:t>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1" y="437083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Conta Estratégica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1" y="4754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Vertical prioritária: fintech, e-commerce, governo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27631" y="5303520"/>
            <a:ext cx="4023360" cy="9144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7631" y="544068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80A8"/>
                </a:solidFill>
                <a:latin typeface="Titillium Web"/>
              </a:rPr>
              <a:t>Qualquer deal marcado como 'strategic' pelo head comercial.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6207" y="4114800"/>
            <a:ext cx="5349240" cy="2103120"/>
          </a:xfrm>
          <a:prstGeom prst="rect">
            <a:avLst/>
          </a:prstGeom>
          <a:solidFill>
            <a:srgbClr val="121428"/>
          </a:solidFill>
          <a:ln w="10160">
            <a:solidFill>
              <a:srgbClr val="3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6207" y="4114800"/>
            <a:ext cx="5349240" cy="5486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0" y="4370832"/>
            <a:ext cx="640080" cy="640080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45312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itillium Web"/>
              </a:rPr>
              <a:t>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199" y="437083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Complexidade Técnica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199" y="4754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0DE"/>
                </a:solidFill>
                <a:latin typeface="Titillium Web"/>
              </a:rPr>
              <a:t>Stack customizado, múltiplos métodos, 3DS, orquestração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199" y="5303520"/>
            <a:ext cx="4023360" cy="9144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199" y="544068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80A8"/>
                </a:solidFill>
                <a:latin typeface="Titillium Web"/>
              </a:rPr>
              <a:t>BDM registra no ticket de Discovery a dúvida técnica → SE avalia se requer reunião ou responde async.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tillium Web SemiBold"/>
              </a:rPr>
              <a:t>Y U N 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749808"/>
            <a:ext cx="3474720" cy="13716"/>
          </a:xfrm>
          <a:prstGeom prst="rect">
            <a:avLst/>
          </a:prstGeom>
          <a:solidFill>
            <a:srgbClr val="607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9144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Titillium Web"/>
              </a:rPr>
              <a:t>Ticket de
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CFF"/>
                </a:solidFill>
                <a:latin typeface="Titillium Web"/>
              </a:rPr>
              <a:t>BDM → 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51760"/>
            <a:ext cx="3474720" cy="13716"/>
          </a:xfrm>
          <a:prstGeom prst="rect">
            <a:avLst/>
          </a:prstGeom>
          <a:solidFill>
            <a:srgbClr val="607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" y="283464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80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BDM qualifica o deal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2044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566160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566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Preenche Discovery doc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420624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251959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25195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Abre ticket + prazo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489204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937759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93775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SE confirma SLA (48h)</a:t>
            </a:r>
          </a:p>
        </p:txBody>
      </p:sp>
      <p:sp>
        <p:nvSpPr>
          <p:cNvPr id="21" name="Oval 20"/>
          <p:cNvSpPr/>
          <p:nvPr/>
        </p:nvSpPr>
        <p:spPr>
          <a:xfrm>
            <a:off x="411480" y="557784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623559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62355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SE prepara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40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CAMPOS OBRIGATÓRIOS DO DOCUMENTO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658368"/>
            <a:ext cx="7040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E3A"/>
                </a:solidFill>
                <a:latin typeface="Titillium Web"/>
              </a:rPr>
              <a:t>O SE não avança sem o documento completo.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078992"/>
            <a:ext cx="704088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80" y="12344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8" y="13258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Merchant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1325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Nome, site, vertical, país de operação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8013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54880" y="19202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20116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Contato técnico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20116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Time de dev interno? Stack utilizado?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871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26060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64608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Volume estimado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26974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Transações/mês, ticket médio, moedas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31729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0" y="32918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64608" y="33832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Métodos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3832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Quais usa hoje? O que quer adicionar?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38587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54880" y="3977639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40690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Pain points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40690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Por que buscam o Yuno? O que falha?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45445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54880" y="46634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64608" y="4754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Jornada do pagador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76288" y="47548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Como é o checkout? App, web, in-person?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52303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54880" y="53492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64608" y="54406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Decisores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76288" y="54406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CTO, CEO, Head de Produto na sala?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59161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0" y="6035040"/>
            <a:ext cx="2011680" cy="530352"/>
          </a:xfrm>
          <a:prstGeom prst="rect">
            <a:avLst/>
          </a:prstGeom>
          <a:solidFill>
            <a:srgbClr val="F7F8FF"/>
          </a:solidFill>
          <a:ln w="1016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64608" y="61264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E4FE0"/>
                </a:solidFill>
                <a:latin typeface="Titillium Web"/>
              </a:rPr>
              <a:t>Timeline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76288" y="61264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Go-live desejado? Datas críticas?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6601968"/>
            <a:ext cx="7040880" cy="7315"/>
          </a:xfrm>
          <a:prstGeom prst="rect">
            <a:avLst/>
          </a:prstGeom>
          <a:solidFill>
            <a:srgbClr val="EE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  —  O PADRÃO DE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E3A"/>
                </a:solidFill>
                <a:latin typeface="Titillium Web"/>
              </a:rPr>
              <a:t>Referência: a demo da Cinépolis.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097280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49240" cy="5394960"/>
          </a:xfrm>
          <a:prstGeom prst="rect">
            <a:avLst/>
          </a:prstGeom>
          <a:solidFill>
            <a:srgbClr val="FFF0F0"/>
          </a:solidFill>
          <a:ln w="10160">
            <a:solidFill>
              <a:srgbClr val="F8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49240" cy="475488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 SemiBold"/>
              </a:rPr>
              <a:t>NÃO ACEITÁVEL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Tour genérico pelo dashboard sem contexto do merchant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23744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Demo ao vivo na sandbox sem nenhuma personalização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18688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Walkthrough de features que o merchant não vai usar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13632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SE não sabe o vertical nem os pain points do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08576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Sem mostrar a jornada do pagador do merchant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2020"/>
                </a:solidFill>
                <a:latin typeface="Titillium Web"/>
              </a:rPr>
              <a:t>✕  Nenhuma integração técnica demonstrada — só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5349240" cy="5394960"/>
          </a:xfrm>
          <a:prstGeom prst="rect">
            <a:avLst/>
          </a:prstGeom>
          <a:solidFill>
            <a:srgbClr val="EDEFFD"/>
          </a:solidFill>
          <a:ln w="10160">
            <a:solidFill>
              <a:srgbClr val="B0C0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5349240" cy="47548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 SemiBold"/>
              </a:rPr>
              <a:t>PADRÃO SE (CINÉPOLIS)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Dores mapeadas no Discovery antes de qualquer contato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523744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Jornada do pagador customizada para o vertical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218688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Fluxo técnico de integração demonstrado (SDK / API)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913632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Métodos de pagamento relevantes para o país do merchant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08576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3DS, fallback, orquestração demonstrados se aplicável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303520"/>
            <a:ext cx="4983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2080"/>
                </a:solidFill>
                <a:latin typeface="Titillium Web"/>
              </a:rPr>
              <a:t>✓  Demo narrada na linguagem do merchant, não de 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88152" y="33832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E3A"/>
                </a:solidFill>
                <a:latin typeface="Titillium Web"/>
              </a:rPr>
              <a:t>VS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O PAPEL DO SOLUTIONS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E3A"/>
                </a:solidFill>
                <a:latin typeface="Titillium Web"/>
              </a:rPr>
              <a:t>Um cargo. Ciclo completo.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097280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291840" cy="1234440"/>
          </a:xfrm>
          <a:prstGeom prst="rect">
            <a:avLst/>
          </a:prstGeom>
          <a:solidFill>
            <a:srgbClr val="F7F8FF"/>
          </a:solidFill>
          <a:ln w="10160">
            <a:solidFill>
              <a:srgbClr val="D0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3291840" cy="347472"/>
          </a:xfrm>
          <a:prstGeom prst="rect">
            <a:avLst/>
          </a:prstGeom>
          <a:solidFill>
            <a:srgbClr val="809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5331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"/>
              </a:rPr>
              <a:t>Sales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55648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Pre-sales: demos e technical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20824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Suporte comercial ao BDM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Sem envolvimento pós-contrato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325880"/>
            <a:ext cx="3291840" cy="1234440"/>
          </a:xfrm>
          <a:prstGeom prst="rect">
            <a:avLst/>
          </a:prstGeom>
          <a:solidFill>
            <a:srgbClr val="F7F8FF"/>
          </a:solidFill>
          <a:ln w="10160">
            <a:solidFill>
              <a:srgbClr val="D0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325880"/>
            <a:ext cx="3291840" cy="347472"/>
          </a:xfrm>
          <a:prstGeom prst="rect">
            <a:avLst/>
          </a:prstGeom>
          <a:solidFill>
            <a:srgbClr val="809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5331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"/>
              </a:rPr>
              <a:t>Implementação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755648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Onboarding técnico pós-contrato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20824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Integração SDK/API com o merchant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86000"/>
            <a:ext cx="3063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E3A"/>
                </a:solidFill>
                <a:latin typeface="Titillium Web"/>
              </a:rPr>
              <a:t>• Sem visibilidade do ciclo comercial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4FE0"/>
                </a:solidFill>
                <a:latin typeface="Titillium Web"/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325880"/>
            <a:ext cx="3657600" cy="123444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4" y="13716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itillium Web"/>
              </a:rPr>
              <a:t>Solutions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4" y="1755648"/>
            <a:ext cx="3383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CCFF"/>
                </a:solidFill>
                <a:latin typeface="Titillium Web"/>
              </a:rPr>
              <a:t>• Ciclo completo: pre-sales → go-live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2020824"/>
            <a:ext cx="3383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CCFF"/>
                </a:solidFill>
                <a:latin typeface="Titillium Web"/>
              </a:rPr>
              <a:t>• Dono da demo e da integração técnica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286000"/>
            <a:ext cx="3383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CCFF"/>
                </a:solidFill>
                <a:latin typeface="Titillium Web"/>
              </a:rPr>
              <a:t>• Referência técnica durante o deal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E3A"/>
                </a:solidFill>
                <a:latin typeface="Titillium Web"/>
              </a:rPr>
              <a:t>Responsabilidades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27248"/>
            <a:ext cx="10972800" cy="9144"/>
          </a:xfrm>
          <a:prstGeom prst="rect">
            <a:avLst/>
          </a:prstGeom>
          <a:solidFill>
            <a:srgbClr val="E0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273552"/>
            <a:ext cx="3657600" cy="3364992"/>
          </a:xfrm>
          <a:prstGeom prst="rect">
            <a:avLst/>
          </a:prstGeom>
          <a:solidFill>
            <a:srgbClr val="F7F8FF"/>
          </a:solidFill>
          <a:ln w="10160">
            <a:solidFill>
              <a:srgbClr val="D0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73552"/>
            <a:ext cx="3657600" cy="34747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3101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tillium Web SemiBold"/>
              </a:rPr>
              <a:t>PRÉ-VENDA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730752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Qualificar fit técnico do merchant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389120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Liderar technical discovery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047488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Demo personalizada (padrão Cinépolis)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70585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Responder RFPs e questões técnicas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696" y="3273552"/>
            <a:ext cx="3657600" cy="3364992"/>
          </a:xfrm>
          <a:prstGeom prst="rect">
            <a:avLst/>
          </a:prstGeom>
          <a:solidFill>
            <a:srgbClr val="F7F8FF"/>
          </a:solidFill>
          <a:ln w="10160">
            <a:solidFill>
              <a:srgbClr val="D0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25696" y="3273552"/>
            <a:ext cx="3657600" cy="347472"/>
          </a:xfrm>
          <a:prstGeom prst="rect">
            <a:avLst/>
          </a:prstGeom>
          <a:solidFill>
            <a:srgbClr val="2838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35424" y="33101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tillium Web SemiBold"/>
              </a:rPr>
              <a:t>FECHAMENTO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5424" y="3730752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Technical Scoping com time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5424" y="4389120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Definir arquitetura da solução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5424" y="5047488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Apoiar negociação com input técnico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424" y="570585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Handoff ou execução da implementação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02752" y="3273552"/>
            <a:ext cx="3657600" cy="3364992"/>
          </a:xfrm>
          <a:prstGeom prst="rect">
            <a:avLst/>
          </a:prstGeom>
          <a:solidFill>
            <a:srgbClr val="F7F8FF"/>
          </a:solidFill>
          <a:ln w="10160">
            <a:solidFill>
              <a:srgbClr val="D0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02752" y="3273552"/>
            <a:ext cx="3657600" cy="347472"/>
          </a:xfrm>
          <a:prstGeom prst="rect">
            <a:avLst/>
          </a:prstGeom>
          <a:solidFill>
            <a:srgbClr val="1A2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33101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tillium Web SemiBold"/>
              </a:rPr>
              <a:t>PÓS-CONTRATO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3730752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Liderar onboarding técnico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4389120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Integrar SDK/API no ambiente do merchant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047488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Suporte go-live e primeiros 90 dias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570585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E3A"/>
                </a:solidFill>
                <a:latin typeface="Titillium Web"/>
              </a:rPr>
              <a:t>• Identificar upsell com time comercial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080F8"/>
                </a:solidFill>
                <a:latin typeface="Titillium Web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Titillium Web"/>
              </a:rPr>
              <a:t>Como colocamos isso em prática.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0972800" cy="10972"/>
          </a:xfrm>
          <a:prstGeom prst="rect">
            <a:avLst/>
          </a:prstGeom>
          <a:solidFill>
            <a:srgbClr val="25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1389888"/>
            <a:ext cx="1170432" cy="384048"/>
          </a:xfrm>
          <a:prstGeom prst="rect">
            <a:avLst/>
          </a:prstGeom>
          <a:solidFill>
            <a:srgbClr val="1A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1426464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BC0DE"/>
                </a:solidFill>
                <a:latin typeface="Titillium Web"/>
              </a:rPr>
              <a:t>Sem.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335024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Definir critérios de acionamento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2032" y="1700784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Workshop Sales Leads + SE Leads. Thresholds de $, tier, strategic. Publicar e comunicar.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58568"/>
            <a:ext cx="10972800" cy="7315"/>
          </a:xfrm>
          <a:prstGeom prst="rect">
            <a:avLst/>
          </a:prstGeom>
          <a:solidFill>
            <a:srgbClr val="2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39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2468879"/>
            <a:ext cx="1170432" cy="384048"/>
          </a:xfrm>
          <a:prstGeom prst="rect">
            <a:avLst/>
          </a:prstGeom>
          <a:solidFill>
            <a:srgbClr val="1A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250545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BC0DE"/>
                </a:solidFill>
                <a:latin typeface="Titillium Web"/>
              </a:rPr>
              <a:t>Sem. 2–3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414015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Criar template de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779775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SE + BDM co-criam o documento. Testar com 2–3 deals em andamento.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59"/>
            <a:ext cx="10972800" cy="7315"/>
          </a:xfrm>
          <a:prstGeom prst="rect">
            <a:avLst/>
          </a:prstGeom>
          <a:solidFill>
            <a:srgbClr val="2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56432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07008" y="3547872"/>
            <a:ext cx="1170432" cy="384048"/>
          </a:xfrm>
          <a:prstGeom prst="rect">
            <a:avLst/>
          </a:prstGeom>
          <a:solidFill>
            <a:srgbClr val="1A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35844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BC0DE"/>
                </a:solidFill>
                <a:latin typeface="Titillium Web"/>
              </a:rPr>
              <a:t>Sem. 3–4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2032" y="3493008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Configurar fluxo de ticket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2032" y="3858768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Canal, form de request, SLA de 48h. Integrar com ferramenta de gestão.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416552"/>
            <a:ext cx="10972800" cy="7315"/>
          </a:xfrm>
          <a:prstGeom prst="rect">
            <a:avLst/>
          </a:prstGeom>
          <a:solidFill>
            <a:srgbClr val="2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35424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8" y="4626864"/>
            <a:ext cx="1170432" cy="384048"/>
          </a:xfrm>
          <a:prstGeom prst="rect">
            <a:avLst/>
          </a:prstGeom>
          <a:solidFill>
            <a:srgbClr val="1A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466344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BC0DE"/>
                </a:solidFill>
                <a:latin typeface="Titillium Web"/>
              </a:rPr>
              <a:t>Mês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42032" y="457200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Enablement: demo padrão Cinépolis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493776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Documentar processo de criação de demo. Sessão de enablement para todos os 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95544"/>
            <a:ext cx="10972800" cy="7315"/>
          </a:xfrm>
          <a:prstGeom prst="rect">
            <a:avLst/>
          </a:prstGeom>
          <a:solidFill>
            <a:srgbClr val="2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614416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07008" y="5705855"/>
            <a:ext cx="1170432" cy="384048"/>
          </a:xfrm>
          <a:prstGeom prst="rect">
            <a:avLst/>
          </a:prstGeom>
          <a:solidFill>
            <a:srgbClr val="1A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5742431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BC0DE"/>
                </a:solidFill>
                <a:latin typeface="Titillium Web"/>
              </a:rPr>
              <a:t>Mês 2–3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42032" y="5650992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tillium Web"/>
              </a:rPr>
              <a:t>Piloto com 5 deals + retrospectiva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601675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0DE"/>
                </a:solidFill>
                <a:latin typeface="Titillium Web"/>
              </a:rPr>
              <a:t>Aplicar o novo processo em 5 deals reais. Coletar feedback. Iterar.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9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Titillium Web"/>
              </a:rPr>
              <a:t>O objetivo não é ter
mais processos.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37560"/>
            <a:ext cx="640080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547872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0CCFF"/>
                </a:solidFill>
                <a:latin typeface="Titillium Web"/>
              </a:rPr>
              <a:t>É garantir que cada merchant que merece uma demo
de nível SE, receba uma.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A0E0"/>
                </a:solidFill>
                <a:latin typeface="Titillium Web SemiBold"/>
              </a:rPr>
              <a:t>Solutions Engineering @ Yuno  —  Abril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0A0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
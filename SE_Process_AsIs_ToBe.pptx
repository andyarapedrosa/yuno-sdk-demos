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-5486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>
                <a:solidFill>
                  <a:srgbClr val="101430"/>
                </a:solidFill>
                <a:latin typeface="Titillium Web"/>
              </a:rPr>
              <a:t>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E4FE0"/>
                </a:solidFill>
                <a:latin typeface="Titillium Web"/>
              </a:rPr>
              <a:t>Y U N 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5029200" cy="20116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Titillium Web"/>
              </a:rPr>
              <a:t>Solutions
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69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0DC"/>
                </a:solidFill>
                <a:latin typeface="Titillium Web"/>
              </a:rPr>
              <a:t>Redesenhando a Esteira de Pré-Venda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4FE0"/>
                </a:solidFill>
                <a:latin typeface="Titillium Web"/>
              </a:rPr>
              <a:t>As-Is  →  To-Be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097280"/>
            <a:ext cx="3017520" cy="178308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1887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tillium Web"/>
              </a:rPr>
              <a:t>Sales Eng
+
Implementação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63240"/>
            <a:ext cx="3017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3291840"/>
            <a:ext cx="3017520" cy="1783080"/>
          </a:xfrm>
          <a:prstGeom prst="rect">
            <a:avLst/>
          </a:prstGeom>
          <a:solidFill>
            <a:srgbClr val="2A3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3832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tillium Web"/>
              </a:rPr>
              <a:t>Solutions
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AA"/>
                </a:solidFill>
                <a:latin typeface="Titillium Web"/>
              </a:rPr>
              <a:t>Abril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-3657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10142C"/>
                </a:solidFill>
                <a:latin typeface="Titillium Web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080F0"/>
                </a:solidFill>
                <a:latin typeface="Titillium Web"/>
              </a:rPr>
              <a:t>PARTE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Titillium Web"/>
              </a:rPr>
              <a:t>A Esteira
Atual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4114800" cy="2286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0DC"/>
                </a:solidFill>
                <a:latin typeface="Titillium Web"/>
              </a:rPr>
              <a:t>Como funciona hoje — e onde estão os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4FE0"/>
                </a:solidFill>
                <a:latin typeface="Titillium Web"/>
              </a:rPr>
              <a:t>AS-IS  —  ESTEIRA DE PRÉ-VENDA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130"/>
                </a:solidFill>
                <a:latin typeface="Titillium Web"/>
              </a:rPr>
              <a:t>5 etapas. O SE é acionado sem critério.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366467"/>
            <a:ext cx="7680960" cy="21945"/>
          </a:xfrm>
          <a:prstGeom prst="rect">
            <a:avLst/>
          </a:prstGeom>
          <a:solidFill>
            <a:srgbClr val="D4D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74519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122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8152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130"/>
                </a:solidFill>
                <a:latin typeface="Titillium Web"/>
              </a:rPr>
              <a:t>Meeting
Booked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4AA"/>
                </a:solidFill>
                <a:latin typeface="Titillium Web"/>
              </a:rPr>
              <a:t>BDM + Merchant</a:t>
            </a:r>
          </a:p>
        </p:txBody>
      </p:sp>
      <p:sp>
        <p:nvSpPr>
          <p:cNvPr id="12" name="Oval 11"/>
          <p:cNvSpPr/>
          <p:nvPr/>
        </p:nvSpPr>
        <p:spPr>
          <a:xfrm>
            <a:off x="2834640" y="1874519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1122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E4FE0"/>
                </a:solidFill>
                <a:latin typeface="Titillium Web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08152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130"/>
                </a:solidFill>
                <a:latin typeface="Titillium Web"/>
              </a:rP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4AA"/>
                </a:solidFill>
                <a:latin typeface="Titillium Web"/>
              </a:rPr>
              <a:t>BDM + Merchant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1874519"/>
            <a:ext cx="1005840" cy="1005840"/>
          </a:xfrm>
          <a:prstGeom prst="ellipse">
            <a:avLst/>
          </a:prstGeom>
          <a:solidFill>
            <a:srgbClr val="3E4FE0"/>
          </a:solidFill>
          <a:ln w="3175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1122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tillium Web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8152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130"/>
                </a:solidFill>
                <a:latin typeface="Titillium Web"/>
              </a:rPr>
              <a:t>Demo
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4AA"/>
                </a:solidFill>
                <a:latin typeface="Titillium Web"/>
              </a:rPr>
              <a:t>SE + BDM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1874519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122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E4FE0"/>
                </a:solidFill>
                <a:latin typeface="Titillium Web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08152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130"/>
                </a:solidFill>
                <a:latin typeface="Titillium Web"/>
              </a:rPr>
              <a:t>Negotiation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4AA"/>
                </a:solidFill>
                <a:latin typeface="Titillium Web"/>
              </a:rPr>
              <a:t>BDM + Merchant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0" y="1874519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1122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E4FE0"/>
                </a:solidFill>
                <a:latin typeface="Titillium Web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08152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130"/>
                </a:solidFill>
                <a:latin typeface="Titillium Web"/>
              </a:rPr>
              <a:t>Contracting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4AA"/>
                </a:solidFill>
                <a:latin typeface="Titillium Web"/>
              </a:rPr>
              <a:t>Legal + BDM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233672"/>
            <a:ext cx="1280160" cy="274320"/>
          </a:xfrm>
          <a:prstGeom prst="rect">
            <a:avLst/>
          </a:prstGeom>
          <a:solidFill>
            <a:srgbClr val="FFF0CC"/>
          </a:solidFill>
          <a:ln w="10160"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2702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804000"/>
                </a:solidFill>
                <a:latin typeface="Titillium Web"/>
              </a:rPr>
              <a:t>⚠ Sem critério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230368"/>
            <a:ext cx="12188952" cy="32004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2180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766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Sem critério de acionamento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875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Não há regra sobre quando ou para qual cliente chamar o 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532180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9" y="53766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Sem definição de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199" y="56875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Qualidade varia por BDM. Sem padrão mínimo estabelecido.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2180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53766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Discovery incompleto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56875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SE entra sem contexto das dores reais. Demo genérica.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4AA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080F0"/>
                </a:solidFill>
                <a:latin typeface="Titillium Web"/>
              </a:rPr>
              <a:t>AS-IS —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tillium Web"/>
              </a:rPr>
              <a:t>Três perguntas sem resposta.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61872"/>
            <a:ext cx="10789920" cy="12801"/>
          </a:xfrm>
          <a:prstGeom prst="rect">
            <a:avLst/>
          </a:prstGeom>
          <a:solidFill>
            <a:srgbClr val="1E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itillium Web"/>
              </a:rPr>
              <a:t>Quando acionar o 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89504"/>
            <a:ext cx="3383280" cy="12801"/>
          </a:xfrm>
          <a:prstGeom prst="rect">
            <a:avLst/>
          </a:prstGeom>
          <a:solidFill>
            <a:srgbClr val="1E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Sem critério de $ de contrato mínimo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Sem critério de tamanho / tier do merchant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Sem critério de relevância estratégica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85231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Resultado: SE acionado ad hoc, tarde demais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E4FE0"/>
                </a:solidFill>
                <a:latin typeface="Titillium We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59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itillium Web"/>
              </a:rPr>
              <a:t>O que é uma boa demo?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889504"/>
            <a:ext cx="3383280" cy="12801"/>
          </a:xfrm>
          <a:prstGeom prst="rect">
            <a:avLst/>
          </a:prstGeom>
          <a:solidFill>
            <a:srgbClr val="1E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Não existe definição interna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Qualidade é individual, não do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Varia de walkthrough a demos como Cinépolis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285231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Resultado: percepção inconsistente da Yuno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E4FE0"/>
                </a:solidFill>
                <a:latin typeface="Titillium Web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9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itillium Web"/>
              </a:rPr>
              <a:t>Como o SE recebe contexto?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889504"/>
            <a:ext cx="3383280" cy="12801"/>
          </a:xfrm>
          <a:prstGeom prst="rect">
            <a:avLst/>
          </a:prstGeom>
          <a:solidFill>
            <a:srgbClr val="1E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Sem documento de Discovery padronizado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SE desconhece: vertical, volume, stack técnico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Pain points não mapeados antes da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85231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— Resultado: demos genéricas, sem impacto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-3657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5060E0"/>
                </a:solidFill>
                <a:latin typeface="Titillium Web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0CCFF"/>
                </a:solidFill>
                <a:latin typeface="Titillium Web"/>
              </a:rPr>
              <a:t>PARTE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Titillium Web"/>
              </a:rPr>
              <a:t>A Nova
Visão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41148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CFF"/>
                </a:solidFill>
                <a:latin typeface="Titillium Web"/>
              </a:rPr>
              <a:t>Critérios claros. Handoff estruturado. Demo padrão.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4FE0"/>
                </a:solidFill>
                <a:latin typeface="Titillium Web"/>
              </a:rPr>
              <a:t>TO-BE  —  NOVA ESTEIRA DE PRÉ-VENDA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130"/>
                </a:solidFill>
                <a:latin typeface="Titillium Web"/>
              </a:rPr>
              <a:t>6 etapas. SE entra com critério e contexto.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2980" y="2206447"/>
            <a:ext cx="9509760" cy="21945"/>
          </a:xfrm>
          <a:prstGeom prst="rect">
            <a:avLst/>
          </a:prstGeom>
          <a:solidFill>
            <a:srgbClr val="D4D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78308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Meeting
Booked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BDM + Merchant</a:t>
            </a:r>
          </a:p>
        </p:txBody>
      </p:sp>
      <p:sp>
        <p:nvSpPr>
          <p:cNvPr id="12" name="Oval 11"/>
          <p:cNvSpPr/>
          <p:nvPr/>
        </p:nvSpPr>
        <p:spPr>
          <a:xfrm>
            <a:off x="2450592" y="1783080"/>
            <a:ext cx="868680" cy="868680"/>
          </a:xfrm>
          <a:prstGeom prst="ellipse">
            <a:avLst/>
          </a:prstGeom>
          <a:solidFill>
            <a:srgbClr val="3E4FE0"/>
          </a:solidFill>
          <a:ln w="3175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tillium Web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Discovery
(Completo)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BDM → ticket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3913631"/>
            <a:ext cx="1417320" cy="292608"/>
          </a:xfrm>
          <a:prstGeom prst="rect">
            <a:avLst/>
          </a:prstGeom>
          <a:solidFill>
            <a:srgbClr val="EDEFFD"/>
          </a:solidFill>
          <a:ln w="1016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2304" y="39502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E4FE0"/>
                </a:solidFill>
                <a:latin typeface="Titillium Web"/>
              </a:rPr>
              <a:t>✓ Critério acionado</a:t>
            </a:r>
          </a:p>
        </p:txBody>
      </p:sp>
      <p:sp>
        <p:nvSpPr>
          <p:cNvPr id="18" name="Oval 17"/>
          <p:cNvSpPr/>
          <p:nvPr/>
        </p:nvSpPr>
        <p:spPr>
          <a:xfrm>
            <a:off x="4352544" y="1783080"/>
            <a:ext cx="868680" cy="868680"/>
          </a:xfrm>
          <a:prstGeom prst="ellipse">
            <a:avLst/>
          </a:prstGeom>
          <a:solidFill>
            <a:srgbClr val="3E4FE0"/>
          </a:solidFill>
          <a:ln w="3175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tillium Web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3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Demo
(Padrão 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SE + BDM</a:t>
            </a:r>
          </a:p>
        </p:txBody>
      </p:sp>
      <p:sp>
        <p:nvSpPr>
          <p:cNvPr id="22" name="Oval 21"/>
          <p:cNvSpPr/>
          <p:nvPr/>
        </p:nvSpPr>
        <p:spPr>
          <a:xfrm>
            <a:off x="6254496" y="178308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E4FE0"/>
                </a:solidFill>
                <a:latin typeface="Titillium Web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Negotiation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BDM + Merchant</a:t>
            </a:r>
          </a:p>
        </p:txBody>
      </p:sp>
      <p:sp>
        <p:nvSpPr>
          <p:cNvPr id="26" name="Oval 25"/>
          <p:cNvSpPr/>
          <p:nvPr/>
        </p:nvSpPr>
        <p:spPr>
          <a:xfrm>
            <a:off x="8156448" y="1783080"/>
            <a:ext cx="868680" cy="868680"/>
          </a:xfrm>
          <a:prstGeom prst="ellipse">
            <a:avLst/>
          </a:prstGeom>
          <a:solidFill>
            <a:srgbClr val="3E4FE0"/>
          </a:solidFill>
          <a:ln w="3175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tillium Web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Technical
Scoping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SE + Time Técnico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3913631"/>
            <a:ext cx="1417320" cy="292608"/>
          </a:xfrm>
          <a:prstGeom prst="rect">
            <a:avLst/>
          </a:prstGeom>
          <a:solidFill>
            <a:srgbClr val="EDEFFD"/>
          </a:solidFill>
          <a:ln w="10160"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9502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E4FE0"/>
                </a:solidFill>
                <a:latin typeface="Titillium Web"/>
              </a:rPr>
              <a:t>✓ Escopo fechado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0" y="178308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1965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E4FE0"/>
                </a:solidFill>
                <a:latin typeface="Titillium Web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8346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30"/>
                </a:solidFill>
                <a:latin typeface="Titillium Web"/>
              </a:rPr>
              <a:t>Contracting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429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A84AA"/>
                </a:solidFill>
                <a:latin typeface="Titillium Web"/>
              </a:rPr>
              <a:t>Legal + BDM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349240"/>
            <a:ext cx="12188952" cy="36576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5955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4FE0"/>
                </a:solidFill>
                <a:latin typeface="Titillium Web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59612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130"/>
                </a:solidFill>
                <a:latin typeface="Titillium Web"/>
              </a:rPr>
              <a:t>Critério claro de acionamento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555955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4FE0"/>
                </a:solidFill>
                <a:latin typeface="Titillium Web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59612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130"/>
                </a:solidFill>
                <a:latin typeface="Titillium Web"/>
              </a:rPr>
              <a:t>Discovery completo antes da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555955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4FE0"/>
                </a:solidFill>
                <a:latin typeface="Titillium Web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559612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130"/>
                </a:solidFill>
                <a:latin typeface="Titillium Web"/>
              </a:rPr>
              <a:t>Technical Scoping antes do contrato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555955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4FE0"/>
                </a:solidFill>
                <a:latin typeface="Titillium Web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559612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130"/>
                </a:solidFill>
                <a:latin typeface="Titillium Web"/>
              </a:rPr>
              <a:t>Demo sempre no padrão Cinépolis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4AA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080F0"/>
                </a:solidFill>
                <a:latin typeface="Titillium Web"/>
              </a:rPr>
              <a:t>TO-BE — CRITÉRIOS DE ACIONAMENTO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itillium Web"/>
              </a:rPr>
              <a:t>SE é acionado quando o deal
atende pelo menos um critério.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789920" cy="12801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394960" cy="2103120"/>
          </a:xfrm>
          <a:prstGeom prst="rect">
            <a:avLst/>
          </a:prstGeom>
          <a:solidFill>
            <a:srgbClr val="0F1328"/>
          </a:solidFill>
          <a:ln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54864" cy="21031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5394960" cy="457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194560"/>
            <a:ext cx="658368" cy="658368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tillium Web"/>
              </a:rP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176272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Valor de Contrato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578608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TAR acima do threshold definido — ex.: &gt; $50k anuais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3154680"/>
            <a:ext cx="4160520" cy="12801"/>
          </a:xfrm>
          <a:prstGeom prst="rect">
            <a:avLst/>
          </a:prstGeom>
          <a:solidFill>
            <a:srgbClr val="2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329184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AA"/>
                </a:solidFill>
                <a:latin typeface="Titillium Web"/>
              </a:rPr>
              <a:t>Deals menores seguem fluxo simplificado.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1920240"/>
            <a:ext cx="5394960" cy="2103120"/>
          </a:xfrm>
          <a:prstGeom prst="rect">
            <a:avLst/>
          </a:prstGeom>
          <a:solidFill>
            <a:srgbClr val="0F1328"/>
          </a:solidFill>
          <a:ln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1920240"/>
            <a:ext cx="54864" cy="21031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0528" y="1920240"/>
            <a:ext cx="5394960" cy="457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194560"/>
            <a:ext cx="658368" cy="658368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30428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tillium Web"/>
              </a:rPr>
              <a:t>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176272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Tamanho do Merchant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578608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Enterprise ou Mid-Market com equipe técnica interna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154680"/>
            <a:ext cx="4160520" cy="12801"/>
          </a:xfrm>
          <a:prstGeom prst="rect">
            <a:avLst/>
          </a:prstGeom>
          <a:solidFill>
            <a:srgbClr val="2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29184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AA"/>
                </a:solidFill>
                <a:latin typeface="Titillium Web"/>
              </a:rPr>
              <a:t>Contas pequenas com integração simples não acionam 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224528"/>
            <a:ext cx="5394960" cy="2103120"/>
          </a:xfrm>
          <a:prstGeom prst="rect">
            <a:avLst/>
          </a:prstGeom>
          <a:solidFill>
            <a:srgbClr val="0F1328"/>
          </a:solidFill>
          <a:ln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224528"/>
            <a:ext cx="54864" cy="21031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224528"/>
            <a:ext cx="5394960" cy="457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8992" y="4498848"/>
            <a:ext cx="658368" cy="658368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608576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tillium Web"/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448056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Conta Estratégica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4882896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Vertical prioritária: fintech, e-commerce, governo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1952" y="5458968"/>
            <a:ext cx="4160520" cy="12801"/>
          </a:xfrm>
          <a:prstGeom prst="rect">
            <a:avLst/>
          </a:prstGeom>
          <a:solidFill>
            <a:srgbClr val="2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5596128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AA"/>
                </a:solidFill>
                <a:latin typeface="Titillium Web"/>
              </a:rPr>
              <a:t>Qualquer deal marcado 'strategic' pelo head comercial.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4224528"/>
            <a:ext cx="5394960" cy="2103120"/>
          </a:xfrm>
          <a:prstGeom prst="rect">
            <a:avLst/>
          </a:prstGeom>
          <a:solidFill>
            <a:srgbClr val="0F1328"/>
          </a:solidFill>
          <a:ln>
            <a:solidFill>
              <a:srgbClr val="3E4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0528" y="4224528"/>
            <a:ext cx="54864" cy="21031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10528" y="4224528"/>
            <a:ext cx="5394960" cy="457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66560" y="4498848"/>
            <a:ext cx="658368" cy="658368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608576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tillium Web"/>
              </a:rPr>
              <a:t>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48056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Complexidade Técnica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882896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0DC"/>
                </a:solidFill>
                <a:latin typeface="Titillium Web"/>
              </a:rPr>
              <a:t>Stack customizado, múltiplos métodos, 3DS, orquestração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5458968"/>
            <a:ext cx="4160520" cy="12801"/>
          </a:xfrm>
          <a:prstGeom prst="rect">
            <a:avLst/>
          </a:prstGeom>
          <a:solidFill>
            <a:srgbClr val="2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5596128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4AA"/>
                </a:solidFill>
                <a:latin typeface="Titillium Web"/>
              </a:rPr>
              <a:t>BDM registra dúvida técnica no Discovery ticket → SE avalia: reunião ou resposta async.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283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Y U N 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822960"/>
            <a:ext cx="3657600" cy="14630"/>
          </a:xfrm>
          <a:prstGeom prst="rect">
            <a:avLst/>
          </a:prstGeom>
          <a:solidFill>
            <a:srgbClr val="60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987552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itillium Web"/>
              </a:rPr>
              <a:t>Ticket de
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487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CFF"/>
                </a:solidFill>
                <a:latin typeface="Titillium Web"/>
              </a:rPr>
              <a:t>BDM → 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944368"/>
            <a:ext cx="3657600" cy="14630"/>
          </a:xfrm>
          <a:prstGeom prst="rect">
            <a:avLst/>
          </a:prstGeom>
          <a:solidFill>
            <a:srgbClr val="60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" y="310896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154679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15467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BDM qualifica o deal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" y="3822191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867911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4FE0"/>
                </a:solidFill>
                <a:latin typeface="Titillium We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86791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Preenche Discovery doc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" y="453542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581144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4FE0"/>
                </a:solidFill>
                <a:latin typeface="Titillium Web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5811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Abre ticket + prazo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" y="5248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5294376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4FE0"/>
                </a:solidFill>
                <a:latin typeface="Titillium Web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5294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SE confirma SLA (48h)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" y="5961888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6007607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4FE0"/>
                </a:solidFill>
                <a:latin typeface="Titillium Web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600760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tillium Web"/>
              </a:rPr>
              <a:t>SE prepara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4FE0"/>
                </a:solidFill>
                <a:latin typeface="Titillium Web"/>
              </a:rPr>
              <a:t>CAMPOS OBRIGATÓRIOS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2179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130"/>
                </a:solidFill>
                <a:latin typeface="Titillium Web"/>
              </a:rPr>
              <a:t>O SE não avança
sem o documento completo.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554480"/>
            <a:ext cx="722376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691640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Merchant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783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Nome, site, vertical, país de operação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221992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2313432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Contato técnico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404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Time de dev interno? Stack utilizado?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843784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2935224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0266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Volume estimado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0266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Transações/mês, ticket médio, moedas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465576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557016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6484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Métodos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6484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Quais usa hoje? O que quer adicionar?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4087368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3440" y="4178808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4270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Pain 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270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Por que buscam o Yuno? O que falha?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709160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63440" y="4800600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4892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Jornada do pagador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App, web, in-person? Como é o checkout?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5330952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63440" y="5422392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5513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Decisores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5138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CTO, CEO, Head de Produto na reunião?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952744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63440" y="6044184"/>
            <a:ext cx="1920240" cy="475488"/>
          </a:xfrm>
          <a:prstGeom prst="rect">
            <a:avLst/>
          </a:prstGeom>
          <a:solidFill>
            <a:srgbClr val="F5F6FF"/>
          </a:solidFill>
          <a:ln w="7620">
            <a:solidFill>
              <a:srgbClr val="E0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61356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4FE0"/>
                </a:solidFill>
                <a:latin typeface="Titillium Web"/>
              </a:rPr>
              <a:t>Timeline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61356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Go-live desejado? Datas críticas?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6574536"/>
            <a:ext cx="7223760" cy="12801"/>
          </a:xfrm>
          <a:prstGeom prst="rect">
            <a:avLst/>
          </a:prstGeom>
          <a:solidFill>
            <a:srgbClr val="E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4AA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4FE0"/>
                </a:solidFill>
                <a:latin typeface="Titillium Web"/>
              </a:rPr>
              <a:t>TO-BE — PADRÃO DE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130"/>
                </a:solidFill>
                <a:latin typeface="Titillium Web"/>
              </a:rPr>
              <a:t>Referência interna: a demo da Cinépolis.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106424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5394960"/>
          </a:xfrm>
          <a:prstGeom prst="rect">
            <a:avLst/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03520" cy="502920"/>
          </a:xfrm>
          <a:prstGeom prst="rect">
            <a:avLst/>
          </a:prstGeom>
          <a:solidFill>
            <a:srgbClr val="D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61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NÃO ACEITÁVEL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4708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Tour genérico pelo dashboard sem 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6032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Demo ao vivo na sandbox sem personalização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7355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Features que o merchant não vai usar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86783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SE não sabe o vertical nem os 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0001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Sem demonstrar a jornada do pagador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4132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1818"/>
                </a:solidFill>
                <a:latin typeface="Titillium Web"/>
              </a:rPr>
              <a:t>✕  Apenas UI — nenhuma integração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493008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A84AA"/>
                </a:solidFill>
                <a:latin typeface="Titillium Web"/>
              </a:rPr>
              <a:t>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188720"/>
            <a:ext cx="5303520" cy="5394960"/>
          </a:xfrm>
          <a:prstGeom prst="rect">
            <a:avLst/>
          </a:prstGeom>
          <a:solidFill>
            <a:srgbClr val="ED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1188720"/>
            <a:ext cx="5303520" cy="50292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1261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PADRÃO SE (CINÉPOLIS)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184708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Dores mapeadas no Discovery antes da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6032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Jornada do pagador customizada ao vertical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27355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Integração técnica demonstrada: SDK /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986783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Métodos relevantes para o país do merchant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70001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3DS, fallback, orquestração se aplicável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54132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870"/>
                </a:solidFill>
                <a:latin typeface="Titillium Web"/>
              </a:rPr>
              <a:t>✓  Linguagem do merchant — não de 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4AA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4FE0"/>
                </a:solidFill>
                <a:latin typeface="Titillium Web"/>
              </a:rPr>
              <a:t>O PAPEL DO SOLUTIONS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130"/>
                </a:solidFill>
                <a:latin typeface="Titillium Web"/>
              </a:rPr>
              <a:t>Um cargo. Ciclo completo.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60704"/>
            <a:ext cx="1106424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200400" cy="1325880"/>
          </a:xfrm>
          <a:prstGeom prst="rect">
            <a:avLst/>
          </a:prstGeom>
          <a:solidFill>
            <a:srgbClr val="F0F2FF"/>
          </a:solidFill>
          <a:ln w="10160">
            <a:solidFill>
              <a:srgbClr val="C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200400" cy="347472"/>
          </a:xfrm>
          <a:prstGeom prst="rect">
            <a:avLst/>
          </a:prstGeom>
          <a:solidFill>
            <a:srgbClr val="90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tillium Web"/>
              </a:rPr>
              <a:t>Sales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64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Pre-sales: demos e technical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Suporte comercial ao BDM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311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Sem envolvimento pós-contrato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572768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E4FE0"/>
                </a:solidFill>
                <a:latin typeface="Titillium Web"/>
              </a:rP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234440"/>
            <a:ext cx="3200400" cy="1325880"/>
          </a:xfrm>
          <a:prstGeom prst="rect">
            <a:avLst/>
          </a:prstGeom>
          <a:solidFill>
            <a:srgbClr val="F0F2FF"/>
          </a:solidFill>
          <a:ln w="10160">
            <a:solidFill>
              <a:srgbClr val="C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234440"/>
            <a:ext cx="3200400" cy="347472"/>
          </a:xfrm>
          <a:prstGeom prst="rect">
            <a:avLst/>
          </a:prstGeom>
          <a:solidFill>
            <a:srgbClr val="90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2618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tillium Web"/>
              </a:rPr>
              <a:t>Implementação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664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Onboarding técnico pós-contrato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476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Integração SDK/API com o merchant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2311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130"/>
                </a:solidFill>
                <a:latin typeface="Titillium Web"/>
              </a:rPr>
              <a:t>• Sem visibilidade do ciclo comercial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1572768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E4FE0"/>
                </a:solidFill>
                <a:latin typeface="Titillium Web"/>
              </a:rPr>
              <a:t>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234440"/>
            <a:ext cx="3566160" cy="132588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261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tillium Web"/>
              </a:rPr>
              <a:t>Solutions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6642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CFF"/>
                </a:solidFill>
                <a:latin typeface="Titillium Web"/>
              </a:rPr>
              <a:t>• Ciclo completo: pre-sales → 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476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CFF"/>
                </a:solidFill>
                <a:latin typeface="Titillium Web"/>
              </a:rPr>
              <a:t>• Dono da demo e da integração técnica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CFF"/>
                </a:solidFill>
                <a:latin typeface="Titillium Web"/>
              </a:rPr>
              <a:t>• Referência técnica durante o deal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16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130"/>
                </a:solidFill>
                <a:latin typeface="Titillium Web"/>
              </a:rPr>
              <a:t>Responsabilidades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63824"/>
            <a:ext cx="11064240" cy="12801"/>
          </a:xfrm>
          <a:prstGeom prst="rect">
            <a:avLst/>
          </a:prstGeom>
          <a:solidFill>
            <a:srgbClr val="E4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10128"/>
            <a:ext cx="3657600" cy="3328416"/>
          </a:xfrm>
          <a:prstGeom prst="rect">
            <a:avLst/>
          </a:prstGeom>
          <a:solidFill>
            <a:srgbClr val="F5F6FF"/>
          </a:solidFill>
          <a:ln w="10160">
            <a:solidFill>
              <a:srgbClr val="D8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10128"/>
            <a:ext cx="3657600" cy="347472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337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tillium Web"/>
              </a:rPr>
              <a:t>PRÉ-VENDA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749039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Qualificar fit técnico do merchant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425696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Liderar technical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02352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Demo personalizada — padrão Cinépolis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79007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Responder RFPs e questões técnicas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25696" y="3310128"/>
            <a:ext cx="3657600" cy="3328416"/>
          </a:xfrm>
          <a:prstGeom prst="rect">
            <a:avLst/>
          </a:prstGeom>
          <a:solidFill>
            <a:srgbClr val="F5F6FF"/>
          </a:solidFill>
          <a:ln w="10160">
            <a:solidFill>
              <a:srgbClr val="D8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25696" y="3310128"/>
            <a:ext cx="3657600" cy="347472"/>
          </a:xfrm>
          <a:prstGeom prst="rect">
            <a:avLst/>
          </a:prstGeom>
          <a:solidFill>
            <a:srgbClr val="283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3337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tillium Web"/>
              </a:rPr>
              <a:t>FECHAMENTO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3749039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Technical Scoping com time técnico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4425696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Definir arquitetura da solução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5424" y="5102352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Apoiar negociação com input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5779007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Handoff ou execução da implementação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3310128"/>
            <a:ext cx="3657600" cy="3328416"/>
          </a:xfrm>
          <a:prstGeom prst="rect">
            <a:avLst/>
          </a:prstGeom>
          <a:solidFill>
            <a:srgbClr val="F5F6FF"/>
          </a:solidFill>
          <a:ln w="10160">
            <a:solidFill>
              <a:srgbClr val="D8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02752" y="3310128"/>
            <a:ext cx="3657600" cy="347472"/>
          </a:xfrm>
          <a:prstGeom prst="rect">
            <a:avLst/>
          </a:prstGeom>
          <a:solidFill>
            <a:srgbClr val="1A2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337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tillium Web"/>
              </a:rPr>
              <a:t>PÓS-CONTRATO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749039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Liderar onboarding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425696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Integrar SDK/API no ambiente do merchant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102352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Suporte go-live e primeiros 90 dias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779007"/>
            <a:ext cx="3429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130"/>
                </a:solidFill>
                <a:latin typeface="Titillium Web"/>
              </a:rPr>
              <a:t>• Identificar upsell com time comercial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4AA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080F0"/>
                </a:solidFill>
                <a:latin typeface="Titillium Web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itillium Web"/>
              </a:rPr>
              <a:t>Como colocamos isso em prática.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10789920" cy="12801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35024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444752"/>
            <a:ext cx="1115568" cy="384048"/>
          </a:xfrm>
          <a:prstGeom prst="rect">
            <a:avLst/>
          </a:prstGeom>
          <a:solidFill>
            <a:srgbClr val="14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48132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8C0DC"/>
                </a:solidFill>
                <a:latin typeface="Titillium Web"/>
              </a:rPr>
              <a:t>Sem.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89888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Definir critérios de acionamento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556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Workshop Sales Leads + SE Leads. Thresholds de $, tier, strategic. Publicar.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04288"/>
            <a:ext cx="10789920" cy="12801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5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2523744"/>
            <a:ext cx="1115568" cy="384048"/>
          </a:xfrm>
          <a:prstGeom prst="rect">
            <a:avLst/>
          </a:prstGeom>
          <a:solidFill>
            <a:srgbClr val="14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7904" y="256032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8C0DC"/>
                </a:solidFill>
                <a:latin typeface="Titillium Web"/>
              </a:rPr>
              <a:t>Sem. 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79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Criar template de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3463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SE + BDM co-criam o documento. Testar com 2–3 deals em andamento.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3279"/>
            <a:ext cx="10789920" cy="12801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9300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1328" y="3602736"/>
            <a:ext cx="1115568" cy="384048"/>
          </a:xfrm>
          <a:prstGeom prst="rect">
            <a:avLst/>
          </a:prstGeom>
          <a:solidFill>
            <a:srgbClr val="14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7904" y="363931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8C0DC"/>
                </a:solidFill>
                <a:latin typeface="Titillium Web"/>
              </a:rPr>
              <a:t>Sem.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47872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Configurar fluxo de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1363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Canal, form de request, SLA de 48h. Integrar com ferramenta de gestão.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462272"/>
            <a:ext cx="10789920" cy="12801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681728"/>
            <a:ext cx="1115568" cy="384048"/>
          </a:xfrm>
          <a:prstGeom prst="rect">
            <a:avLst/>
          </a:prstGeom>
          <a:solidFill>
            <a:srgbClr val="14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17904" y="471830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8C0DC"/>
                </a:solidFill>
                <a:latin typeface="Titillium Web"/>
              </a:rPr>
              <a:t>Mês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26864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Enablement: demo padrão Cinépolis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99262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Documentar e rodar sessão de enablement para todos os 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41264"/>
            <a:ext cx="10789920" cy="12801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50992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4FE0"/>
                </a:solidFill>
                <a:latin typeface="Titillium Web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1328" y="5760720"/>
            <a:ext cx="1115568" cy="384048"/>
          </a:xfrm>
          <a:prstGeom prst="rect">
            <a:avLst/>
          </a:prstGeom>
          <a:solidFill>
            <a:srgbClr val="14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7904" y="579729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8C0DC"/>
                </a:solidFill>
                <a:latin typeface="Titillium Web"/>
              </a:rPr>
              <a:t>Mês 2–3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705855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tillium Web"/>
              </a:rPr>
              <a:t>Piloto com 5 deals + retrospectiva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60716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0DC"/>
                </a:solidFill>
                <a:latin typeface="Titillium Web"/>
              </a:rPr>
              <a:t>Aplicar em 5 deals reais. Coletar feedback. Iterar e publicar v2.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7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itillium Web"/>
              </a:rPr>
              <a:t>O objetivo não é
ter mais processos.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68580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CCFF"/>
                </a:solidFill>
                <a:latin typeface="Titillium Web"/>
              </a:rPr>
              <a:t>É garantir que cada merchant que merece
uma demo de nível SE, receba uma.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0E0"/>
                </a:solidFill>
                <a:latin typeface="Titillium Web"/>
              </a:rPr>
              <a:t>Solutions Engineering @ Yuno  —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A3260"/>
                </a:solidFill>
                <a:latin typeface="Titillium Web"/>
              </a:rPr>
              <a:t>W W W . Y . U N 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
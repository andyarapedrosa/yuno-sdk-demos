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9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0" y="-54864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0" b="1">
                <a:solidFill>
                  <a:srgbClr val="101430"/>
                </a:solidFill>
                <a:latin typeface="Titillium Web"/>
              </a:rPr>
              <a:t>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02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E4FE0"/>
                </a:solidFill>
                <a:latin typeface="Titillium Web"/>
              </a:rPr>
              <a:t>Y U N O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14400"/>
            <a:ext cx="5029200" cy="20116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097280"/>
            <a:ext cx="6858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Titillium Web"/>
              </a:rPr>
              <a:t>Solutions
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06908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8C0DC"/>
                </a:solidFill>
                <a:latin typeface="Titillium Web"/>
              </a:rPr>
              <a:t>Redesigning the Pre-Sales 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6177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E4FE0"/>
                </a:solidFill>
                <a:latin typeface="Titillium Web"/>
              </a:rPr>
              <a:t>As-Is  →  To-Be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0" y="1097280"/>
            <a:ext cx="3017520" cy="178308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23960" y="118872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Titillium Web"/>
              </a:rPr>
              <a:t>Sales Eng
+
Implementation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0" y="3063240"/>
            <a:ext cx="301752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0" y="3291840"/>
            <a:ext cx="3017520" cy="1783080"/>
          </a:xfrm>
          <a:prstGeom prst="rect">
            <a:avLst/>
          </a:prstGeom>
          <a:solidFill>
            <a:srgbClr val="2A38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23960" y="338328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Titillium Web"/>
              </a:rPr>
              <a:t>Solutions
Engineer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355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A84AA"/>
                </a:solidFill>
                <a:latin typeface="Titillium Web"/>
              </a:rPr>
              <a:t>April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A3260"/>
                </a:solidFill>
                <a:latin typeface="Titillium Web"/>
              </a:rPr>
              <a:t>W W W . Y . U N 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9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-3657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0" b="1">
                <a:solidFill>
                  <a:srgbClr val="10142C"/>
                </a:solidFill>
                <a:latin typeface="Titillium Web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080F0"/>
                </a:solidFill>
                <a:latin typeface="Titillium Web"/>
              </a:rPr>
              <a:t>PART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800" b="1">
                <a:solidFill>
                  <a:srgbClr val="FFFFFF"/>
                </a:solidFill>
                <a:latin typeface="Titillium Web"/>
              </a:rPr>
              <a:t>Current
Process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029200"/>
            <a:ext cx="4114800" cy="2286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166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8C0DC"/>
                </a:solidFill>
                <a:latin typeface="Titillium Web"/>
              </a:rPr>
              <a:t>How it works today — and where the gaps 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A3260"/>
                </a:solidFill>
                <a:latin typeface="Titillium Web"/>
              </a:rPr>
              <a:t>W W W . Y . U N 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E4FE0"/>
                </a:solidFill>
                <a:latin typeface="Titillium Web"/>
              </a:rPr>
              <a:t>AS-IS  —  PRE-SALES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1130"/>
                </a:solidFill>
                <a:latin typeface="Titillium Web"/>
              </a:rPr>
              <a:t>5 stages. SE is engaged without clear criteria.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11064240" cy="12801"/>
          </a:xfrm>
          <a:prstGeom prst="rect">
            <a:avLst/>
          </a:prstGeom>
          <a:solidFill>
            <a:srgbClr val="E4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17320" y="2366467"/>
            <a:ext cx="7680960" cy="21945"/>
          </a:xfrm>
          <a:prstGeom prst="rect">
            <a:avLst/>
          </a:prstGeom>
          <a:solidFill>
            <a:srgbClr val="D4D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1874519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B4B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12263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E4FE0"/>
                </a:solidFill>
                <a:latin typeface="Titillium Web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81528"/>
            <a:ext cx="1280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130"/>
                </a:solidFill>
                <a:latin typeface="Titillium Web"/>
              </a:rPr>
              <a:t>Meeting
Booked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58183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7A84AA"/>
                </a:solidFill>
                <a:latin typeface="Titillium Web"/>
              </a:rPr>
              <a:t>BDM + Merchant</a:t>
            </a:r>
          </a:p>
        </p:txBody>
      </p:sp>
      <p:sp>
        <p:nvSpPr>
          <p:cNvPr id="12" name="Oval 11"/>
          <p:cNvSpPr/>
          <p:nvPr/>
        </p:nvSpPr>
        <p:spPr>
          <a:xfrm>
            <a:off x="2834640" y="1874519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B4B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2112263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E4FE0"/>
                </a:solidFill>
                <a:latin typeface="Titillium Web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3081528"/>
            <a:ext cx="1280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130"/>
                </a:solidFill>
                <a:latin typeface="Titillium Web"/>
              </a:rPr>
              <a:t>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758183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7A84AA"/>
                </a:solidFill>
                <a:latin typeface="Titillium Web"/>
              </a:rPr>
              <a:t>BDM + Merchant</a:t>
            </a:r>
          </a:p>
        </p:txBody>
      </p:sp>
      <p:sp>
        <p:nvSpPr>
          <p:cNvPr id="16" name="Oval 15"/>
          <p:cNvSpPr/>
          <p:nvPr/>
        </p:nvSpPr>
        <p:spPr>
          <a:xfrm>
            <a:off x="4754880" y="1874519"/>
            <a:ext cx="1005840" cy="1005840"/>
          </a:xfrm>
          <a:prstGeom prst="ellipse">
            <a:avLst/>
          </a:prstGeom>
          <a:solidFill>
            <a:srgbClr val="3E4FE0"/>
          </a:solidFill>
          <a:ln w="31750">
            <a:solidFill>
              <a:srgbClr val="3E4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2112263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Titillium Web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081528"/>
            <a:ext cx="1280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130"/>
                </a:solidFill>
                <a:latin typeface="Titillium Web"/>
              </a:rPr>
              <a:t>Demo
Deep Dive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758183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7A84AA"/>
                </a:solidFill>
                <a:latin typeface="Titillium Web"/>
              </a:rPr>
              <a:t>SE + BDM</a:t>
            </a:r>
          </a:p>
        </p:txBody>
      </p:sp>
      <p:sp>
        <p:nvSpPr>
          <p:cNvPr id="20" name="Oval 19"/>
          <p:cNvSpPr/>
          <p:nvPr/>
        </p:nvSpPr>
        <p:spPr>
          <a:xfrm>
            <a:off x="6675120" y="1874519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B4B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2112263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E4FE0"/>
                </a:solidFill>
                <a:latin typeface="Titillium Web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3081528"/>
            <a:ext cx="1280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130"/>
                </a:solidFill>
                <a:latin typeface="Titillium Web"/>
              </a:rPr>
              <a:t>Negotiation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59" y="3758183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7A84AA"/>
                </a:solidFill>
                <a:latin typeface="Titillium Web"/>
              </a:rPr>
              <a:t>BDM + Merchant</a:t>
            </a:r>
          </a:p>
        </p:txBody>
      </p:sp>
      <p:sp>
        <p:nvSpPr>
          <p:cNvPr id="24" name="Oval 23"/>
          <p:cNvSpPr/>
          <p:nvPr/>
        </p:nvSpPr>
        <p:spPr>
          <a:xfrm>
            <a:off x="8595360" y="1874519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B4B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0" y="2112263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E4FE0"/>
                </a:solidFill>
                <a:latin typeface="Titillium Web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081528"/>
            <a:ext cx="1280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130"/>
                </a:solidFill>
                <a:latin typeface="Titillium Web"/>
              </a:rPr>
              <a:t>Contracting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3758183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7A84AA"/>
                </a:solidFill>
                <a:latin typeface="Titillium Web"/>
              </a:rPr>
              <a:t>Legal + BDM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17720" y="4233672"/>
            <a:ext cx="1280160" cy="274320"/>
          </a:xfrm>
          <a:prstGeom prst="rect">
            <a:avLst/>
          </a:prstGeom>
          <a:solidFill>
            <a:srgbClr val="FFF0CC"/>
          </a:solidFill>
          <a:ln w="10160">
            <a:solidFill>
              <a:srgbClr val="F5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09160" y="427024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804000"/>
                </a:solidFill>
                <a:latin typeface="Titillium Web"/>
              </a:rPr>
              <a:t>⚠ No criteria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5230368"/>
            <a:ext cx="12188952" cy="1627632"/>
          </a:xfrm>
          <a:prstGeom prst="rect">
            <a:avLst/>
          </a:prstGeom>
          <a:solidFill>
            <a:srgbClr val="0709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5230368"/>
            <a:ext cx="12188952" cy="32004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321808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E4FE0"/>
                </a:solidFill>
                <a:latin typeface="Titillium Web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5376672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Titillium Web"/>
              </a:rPr>
              <a:t>No SE engagement criteria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568756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0DC"/>
                </a:solidFill>
                <a:latin typeface="Titillium Web"/>
              </a:rPr>
              <a:t>No clear rule on when or for which client to engage the SE.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59" y="5321808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E4FE0"/>
                </a:solidFill>
                <a:latin typeface="Titillium Web"/>
              </a:rPr>
              <a:t>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199" y="5376672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Titillium Web"/>
              </a:rPr>
              <a:t>No demo standard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199" y="568756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0DC"/>
                </a:solidFill>
                <a:latin typeface="Titillium Web"/>
              </a:rPr>
              <a:t>Quality varies by BDM. No minimum standard defined.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5321808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E4FE0"/>
                </a:solidFill>
                <a:latin typeface="Titillium Web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19" y="5376672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Titillium Web"/>
              </a:rPr>
              <a:t>Incomplete Discovery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19" y="568756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0DC"/>
                </a:solidFill>
                <a:latin typeface="Titillium Web"/>
              </a:rPr>
              <a:t>SE enters without context on real pain points. Generic demo.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A84AA"/>
                </a:solidFill>
                <a:latin typeface="Titillium Web"/>
              </a:rPr>
              <a:t>W W W . Y . U N 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9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2004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080F0"/>
                </a:solidFill>
                <a:latin typeface="Titillium Web"/>
              </a:rPr>
              <a:t>AS-IS — GAPS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1792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Titillium Web"/>
              </a:rPr>
              <a:t>Three unanswered questions.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261872"/>
            <a:ext cx="10789920" cy="12801"/>
          </a:xfrm>
          <a:prstGeom prst="rect">
            <a:avLst/>
          </a:prstGeom>
          <a:solidFill>
            <a:srgbClr val="1E2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73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3E4FE0"/>
                </a:solidFill>
                <a:latin typeface="Titillium Web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59152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Titillium Web"/>
              </a:rPr>
              <a:t>When to engage the SE?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889504"/>
            <a:ext cx="3383280" cy="12801"/>
          </a:xfrm>
          <a:prstGeom prst="rect">
            <a:avLst/>
          </a:prstGeom>
          <a:solidFill>
            <a:srgbClr val="1E2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035808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0DC"/>
                </a:solidFill>
                <a:latin typeface="Titillium Web"/>
              </a:rPr>
              <a:t>— No minimum contract $ threshold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85615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0DC"/>
                </a:solidFill>
                <a:latin typeface="Titillium Web"/>
              </a:rPr>
              <a:t>— No merchant size / tier criteria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535424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0DC"/>
                </a:solidFill>
                <a:latin typeface="Titillium Web"/>
              </a:rPr>
              <a:t>— No strategic relevance criteria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285231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0DC"/>
                </a:solidFill>
                <a:latin typeface="Titillium Web"/>
              </a:rPr>
              <a:t>— Result: SE engaged ad hoc, too 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1463040"/>
            <a:ext cx="73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3E4FE0"/>
                </a:solidFill>
                <a:latin typeface="Titillium We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359152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Titillium Web"/>
              </a:rPr>
              <a:t>What makes a good demo?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17720" y="2889504"/>
            <a:ext cx="3383280" cy="12801"/>
          </a:xfrm>
          <a:prstGeom prst="rect">
            <a:avLst/>
          </a:prstGeom>
          <a:solidFill>
            <a:srgbClr val="1E2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035808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0DC"/>
                </a:solidFill>
                <a:latin typeface="Titillium Web"/>
              </a:rPr>
              <a:t>— No internal definition exists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785615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0DC"/>
                </a:solidFill>
                <a:latin typeface="Titillium Web"/>
              </a:rPr>
              <a:t>— Quality is individual, not team-wide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535424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0DC"/>
                </a:solidFill>
                <a:latin typeface="Titillium Web"/>
              </a:rPr>
              <a:t>— Ranges from generic walkthrough to Cinépolis-level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5285231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0DC"/>
                </a:solidFill>
                <a:latin typeface="Titillium Web"/>
              </a:rPr>
              <a:t>— Result: inconsistent perception of Yuno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1463040"/>
            <a:ext cx="73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3E4FE0"/>
                </a:solidFill>
                <a:latin typeface="Titillium Web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359152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Titillium Web"/>
              </a:rPr>
              <a:t>How does the SE receive context?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0" y="2889504"/>
            <a:ext cx="3383280" cy="12801"/>
          </a:xfrm>
          <a:prstGeom prst="rect">
            <a:avLst/>
          </a:prstGeom>
          <a:solidFill>
            <a:srgbClr val="1E2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3035808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0DC"/>
                </a:solidFill>
                <a:latin typeface="Titillium Web"/>
              </a:rPr>
              <a:t>— No standardized Discovery document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3785615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0DC"/>
                </a:solidFill>
                <a:latin typeface="Titillium Web"/>
              </a:rPr>
              <a:t>— SE doesn't know: vertical, volume, tech stack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535424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0DC"/>
                </a:solidFill>
                <a:latin typeface="Titillium Web"/>
              </a:rPr>
              <a:t>— Pain points not mapped before the demo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5285231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0DC"/>
                </a:solidFill>
                <a:latin typeface="Titillium Web"/>
              </a:rPr>
              <a:t>— Result: generic demos with no 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A3260"/>
                </a:solidFill>
                <a:latin typeface="Titillium Web"/>
              </a:rPr>
              <a:t>W W W . Y . U N 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709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-36576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0" b="1">
                <a:solidFill>
                  <a:srgbClr val="5060E0"/>
                </a:solidFill>
                <a:latin typeface="Titillium Web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0CCFF"/>
                </a:solidFill>
                <a:latin typeface="Titillium Web"/>
              </a:rPr>
              <a:t>PART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800" b="1">
                <a:solidFill>
                  <a:srgbClr val="FFFFFF"/>
                </a:solidFill>
                <a:latin typeface="Titillium Web"/>
              </a:rPr>
              <a:t>The New
Vision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029200"/>
            <a:ext cx="4114800" cy="228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166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0CCFF"/>
                </a:solidFill>
                <a:latin typeface="Titillium Web"/>
              </a:rPr>
              <a:t>Clear criteria. Structured handoff. Standard demo.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A3260"/>
                </a:solidFill>
                <a:latin typeface="Titillium Web"/>
              </a:rPr>
              <a:t>W W W . Y . U N 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E4FE0"/>
                </a:solidFill>
                <a:latin typeface="Titillium Web"/>
              </a:rPr>
              <a:t>TO-BE  —  NEW PRE-SALES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1130"/>
                </a:solidFill>
                <a:latin typeface="Titillium Web"/>
              </a:rPr>
              <a:t>6 stages. SE enters with criteria and context.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11064240" cy="12801"/>
          </a:xfrm>
          <a:prstGeom prst="rect">
            <a:avLst/>
          </a:prstGeom>
          <a:solidFill>
            <a:srgbClr val="E4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82980" y="2206447"/>
            <a:ext cx="9509760" cy="21945"/>
          </a:xfrm>
          <a:prstGeom prst="rect">
            <a:avLst/>
          </a:prstGeom>
          <a:solidFill>
            <a:srgbClr val="D4D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48640" y="1783080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B4B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868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3E4FE0"/>
                </a:solidFill>
                <a:latin typeface="Titillium Web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59" y="2834640"/>
            <a:ext cx="1234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130"/>
                </a:solidFill>
                <a:latin typeface="Titillium Web"/>
              </a:rPr>
              <a:t>Meeting
Booked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" y="342900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A84AA"/>
                </a:solidFill>
                <a:latin typeface="Titillium Web"/>
              </a:rPr>
              <a:t>BDM + Merchant</a:t>
            </a:r>
          </a:p>
        </p:txBody>
      </p:sp>
      <p:sp>
        <p:nvSpPr>
          <p:cNvPr id="12" name="Oval 11"/>
          <p:cNvSpPr/>
          <p:nvPr/>
        </p:nvSpPr>
        <p:spPr>
          <a:xfrm>
            <a:off x="2450592" y="1783080"/>
            <a:ext cx="868680" cy="868680"/>
          </a:xfrm>
          <a:prstGeom prst="ellipse">
            <a:avLst/>
          </a:prstGeom>
          <a:solidFill>
            <a:srgbClr val="3E4FE0"/>
          </a:solidFill>
          <a:ln w="31750">
            <a:solidFill>
              <a:srgbClr val="3E4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50592" y="1965960"/>
            <a:ext cx="868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tillium Web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2834640"/>
            <a:ext cx="1234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130"/>
                </a:solidFill>
                <a:latin typeface="Titillium Web"/>
              </a:rPr>
              <a:t>Discovery
(Complete)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7712" y="342900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A84AA"/>
                </a:solidFill>
                <a:latin typeface="Titillium Web"/>
              </a:rPr>
              <a:t>BDM → ticket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59152" y="3913631"/>
            <a:ext cx="1417320" cy="292608"/>
          </a:xfrm>
          <a:prstGeom prst="rect">
            <a:avLst/>
          </a:prstGeom>
          <a:solidFill>
            <a:srgbClr val="EDEFFD"/>
          </a:solidFill>
          <a:ln w="10160">
            <a:solidFill>
              <a:srgbClr val="3E4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32304" y="3950208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3E4FE0"/>
                </a:solidFill>
                <a:latin typeface="Titillium Web"/>
              </a:rPr>
              <a:t>✓ Criteria met</a:t>
            </a:r>
          </a:p>
        </p:txBody>
      </p:sp>
      <p:sp>
        <p:nvSpPr>
          <p:cNvPr id="18" name="Oval 17"/>
          <p:cNvSpPr/>
          <p:nvPr/>
        </p:nvSpPr>
        <p:spPr>
          <a:xfrm>
            <a:off x="4352544" y="1783080"/>
            <a:ext cx="868680" cy="868680"/>
          </a:xfrm>
          <a:prstGeom prst="ellipse">
            <a:avLst/>
          </a:prstGeom>
          <a:solidFill>
            <a:srgbClr val="3E4FE0"/>
          </a:solidFill>
          <a:ln w="31750">
            <a:solidFill>
              <a:srgbClr val="3E4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52544" y="1965960"/>
            <a:ext cx="868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tillium Web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9663" y="2834640"/>
            <a:ext cx="1234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130"/>
                </a:solidFill>
                <a:latin typeface="Titillium Web"/>
              </a:rPr>
              <a:t>Demo
(SE Standard)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9663" y="342900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A84AA"/>
                </a:solidFill>
                <a:latin typeface="Titillium Web"/>
              </a:rPr>
              <a:t>SE + BDM</a:t>
            </a:r>
          </a:p>
        </p:txBody>
      </p:sp>
      <p:sp>
        <p:nvSpPr>
          <p:cNvPr id="22" name="Oval 21"/>
          <p:cNvSpPr/>
          <p:nvPr/>
        </p:nvSpPr>
        <p:spPr>
          <a:xfrm>
            <a:off x="6254496" y="1783080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B4B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4496" y="1965960"/>
            <a:ext cx="868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3E4FE0"/>
                </a:solidFill>
                <a:latin typeface="Titillium Web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71616" y="2834640"/>
            <a:ext cx="1234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130"/>
                </a:solidFill>
                <a:latin typeface="Titillium Web"/>
              </a:rPr>
              <a:t>Negotiation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71616" y="342900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A84AA"/>
                </a:solidFill>
                <a:latin typeface="Titillium Web"/>
              </a:rPr>
              <a:t>BDM + Merchant</a:t>
            </a:r>
          </a:p>
        </p:txBody>
      </p:sp>
      <p:sp>
        <p:nvSpPr>
          <p:cNvPr id="26" name="Oval 25"/>
          <p:cNvSpPr/>
          <p:nvPr/>
        </p:nvSpPr>
        <p:spPr>
          <a:xfrm>
            <a:off x="8156448" y="1783080"/>
            <a:ext cx="868680" cy="868680"/>
          </a:xfrm>
          <a:prstGeom prst="ellipse">
            <a:avLst/>
          </a:prstGeom>
          <a:solidFill>
            <a:srgbClr val="3E4FE0"/>
          </a:solidFill>
          <a:ln w="31750">
            <a:solidFill>
              <a:srgbClr val="3E4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56448" y="1965960"/>
            <a:ext cx="868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tillium Web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73568" y="2834640"/>
            <a:ext cx="1234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130"/>
                </a:solidFill>
                <a:latin typeface="Titillium Web"/>
              </a:rPr>
              <a:t>Technical
Scoping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3568" y="342900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A84AA"/>
                </a:solidFill>
                <a:latin typeface="Titillium Web"/>
              </a:rPr>
              <a:t>SE + Tech Team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3913631"/>
            <a:ext cx="1417320" cy="292608"/>
          </a:xfrm>
          <a:prstGeom prst="rect">
            <a:avLst/>
          </a:prstGeom>
          <a:solidFill>
            <a:srgbClr val="EDEFFD"/>
          </a:solidFill>
          <a:ln w="10160">
            <a:solidFill>
              <a:srgbClr val="3E4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950208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3E4FE0"/>
                </a:solidFill>
                <a:latin typeface="Titillium Web"/>
              </a:rPr>
              <a:t>✓ Scope defined</a:t>
            </a:r>
          </a:p>
        </p:txBody>
      </p:sp>
      <p:sp>
        <p:nvSpPr>
          <p:cNvPr id="32" name="Oval 31"/>
          <p:cNvSpPr/>
          <p:nvPr/>
        </p:nvSpPr>
        <p:spPr>
          <a:xfrm>
            <a:off x="10058400" y="1783080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B4B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0" y="1965960"/>
            <a:ext cx="868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3E4FE0"/>
                </a:solidFill>
                <a:latin typeface="Titillium Web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0" y="2834640"/>
            <a:ext cx="1234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130"/>
                </a:solidFill>
                <a:latin typeface="Titillium Web"/>
              </a:rPr>
              <a:t>Contracting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0" y="342900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A84AA"/>
                </a:solidFill>
                <a:latin typeface="Titillium Web"/>
              </a:rPr>
              <a:t>Legal + BDM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5349240"/>
            <a:ext cx="12188952" cy="1508760"/>
          </a:xfrm>
          <a:prstGeom prst="rect">
            <a:avLst/>
          </a:prstGeom>
          <a:solidFill>
            <a:srgbClr val="F5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5349240"/>
            <a:ext cx="12188952" cy="36576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5559552"/>
            <a:ext cx="256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E4FE0"/>
                </a:solidFill>
                <a:latin typeface="Titillium Web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7" y="559612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D1130"/>
                </a:solidFill>
                <a:latin typeface="Titillium Web"/>
              </a:rPr>
              <a:t>Clear engagement criteria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56432" y="5559552"/>
            <a:ext cx="256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E4FE0"/>
                </a:solidFill>
                <a:latin typeface="Titillium Web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49040" y="559612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D1130"/>
                </a:solidFill>
                <a:latin typeface="Titillium Web"/>
              </a:rPr>
              <a:t>Complete Discovery before demo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64224" y="5559552"/>
            <a:ext cx="256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E4FE0"/>
                </a:solidFill>
                <a:latin typeface="Titillium Web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56832" y="559612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D1130"/>
                </a:solidFill>
                <a:latin typeface="Titillium Web"/>
              </a:rPr>
              <a:t>Technical Scoping before contract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72016" y="5559552"/>
            <a:ext cx="256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E4FE0"/>
                </a:solidFill>
                <a:latin typeface="Titillium Web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64624" y="559612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D1130"/>
                </a:solidFill>
                <a:latin typeface="Titillium Web"/>
              </a:rPr>
              <a:t>Demo always at Cinépolis standard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A84AA"/>
                </a:solidFill>
                <a:latin typeface="Titillium Web"/>
              </a:rPr>
              <a:t>W W W . Y . U N 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9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603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080F0"/>
                </a:solidFill>
                <a:latin typeface="Titillium Web"/>
              </a:rPr>
              <a:t>TO-BE — SE ENGAGEMENT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Titillium Web"/>
              </a:rPr>
              <a:t>SE is engaged when the deal
meets at least one criterion.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737360"/>
            <a:ext cx="10789920" cy="12801"/>
          </a:xfrm>
          <a:prstGeom prst="rect">
            <a:avLst/>
          </a:prstGeom>
          <a:solidFill>
            <a:srgbClr val="182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5394960" cy="2103120"/>
          </a:xfrm>
          <a:prstGeom prst="rect">
            <a:avLst/>
          </a:prstGeom>
          <a:solidFill>
            <a:srgbClr val="0F1328"/>
          </a:solidFill>
          <a:ln>
            <a:solidFill>
              <a:srgbClr val="3E4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920240"/>
            <a:ext cx="54864" cy="210312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920240"/>
            <a:ext cx="5394960" cy="4572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78992" y="2194560"/>
            <a:ext cx="658368" cy="658368"/>
          </a:xfrm>
          <a:prstGeom prst="ellipse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304288"/>
            <a:ext cx="6583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tillium Web"/>
              </a:rPr>
              <a:t>$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1952" y="2176272"/>
            <a:ext cx="4160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Titillium Web"/>
              </a:rPr>
              <a:t>Contract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01952" y="2578608"/>
            <a:ext cx="4160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0DC"/>
                </a:solidFill>
                <a:latin typeface="Titillium Web"/>
              </a:rPr>
              <a:t>TAR above defined threshold — e.g.: &gt; $50k annually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1952" y="3154680"/>
            <a:ext cx="4160520" cy="12801"/>
          </a:xfrm>
          <a:prstGeom prst="rect">
            <a:avLst/>
          </a:prstGeom>
          <a:solidFill>
            <a:srgbClr val="2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01952" y="3291840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A84AA"/>
                </a:solidFill>
                <a:latin typeface="Titillium Web"/>
              </a:rPr>
              <a:t>Smaller deals follow a simplified flow without 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10528" y="1920240"/>
            <a:ext cx="5394960" cy="2103120"/>
          </a:xfrm>
          <a:prstGeom prst="rect">
            <a:avLst/>
          </a:prstGeom>
          <a:solidFill>
            <a:srgbClr val="0F1328"/>
          </a:solidFill>
          <a:ln>
            <a:solidFill>
              <a:srgbClr val="3E4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10528" y="1920240"/>
            <a:ext cx="54864" cy="210312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10528" y="1920240"/>
            <a:ext cx="5394960" cy="4572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766560" y="2194560"/>
            <a:ext cx="658368" cy="658368"/>
          </a:xfrm>
          <a:prstGeom prst="ellipse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2304288"/>
            <a:ext cx="6583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tillium Web"/>
              </a:rPr>
              <a:t>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2176272"/>
            <a:ext cx="4160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Titillium Web"/>
              </a:rPr>
              <a:t>Merchant Size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578608"/>
            <a:ext cx="4160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0DC"/>
                </a:solidFill>
                <a:latin typeface="Titillium Web"/>
              </a:rPr>
              <a:t>Enterprise or Mid-Market with internal technical team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89520" y="3154680"/>
            <a:ext cx="4160520" cy="12801"/>
          </a:xfrm>
          <a:prstGeom prst="rect">
            <a:avLst/>
          </a:prstGeom>
          <a:solidFill>
            <a:srgbClr val="2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0" y="3291840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A84AA"/>
                </a:solidFill>
                <a:latin typeface="Titillium Web"/>
              </a:rPr>
              <a:t>Small accounts with simple integration don't trigger 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224528"/>
            <a:ext cx="5394960" cy="2103120"/>
          </a:xfrm>
          <a:prstGeom prst="rect">
            <a:avLst/>
          </a:prstGeom>
          <a:solidFill>
            <a:srgbClr val="0F1328"/>
          </a:solidFill>
          <a:ln>
            <a:solidFill>
              <a:srgbClr val="3E4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224528"/>
            <a:ext cx="54864" cy="210312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4224528"/>
            <a:ext cx="5394960" cy="4572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78992" y="4498848"/>
            <a:ext cx="658368" cy="658368"/>
          </a:xfrm>
          <a:prstGeom prst="ellipse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4608576"/>
            <a:ext cx="6583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tillium Web"/>
              </a:rPr>
              <a:t>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01952" y="4480560"/>
            <a:ext cx="4160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Titillium Web"/>
              </a:rPr>
              <a:t>Strategic Account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01952" y="4882896"/>
            <a:ext cx="4160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0DC"/>
                </a:solidFill>
                <a:latin typeface="Titillium Web"/>
              </a:rPr>
              <a:t>Priority vertical: fintech, e-commerce, government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01952" y="5458968"/>
            <a:ext cx="4160520" cy="12801"/>
          </a:xfrm>
          <a:prstGeom prst="rect">
            <a:avLst/>
          </a:prstGeom>
          <a:solidFill>
            <a:srgbClr val="2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01952" y="5596128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A84AA"/>
                </a:solidFill>
                <a:latin typeface="Titillium Web"/>
              </a:rPr>
              <a:t>Any deal flagged as 'strategic' by the commercial head.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10528" y="4224528"/>
            <a:ext cx="5394960" cy="2103120"/>
          </a:xfrm>
          <a:prstGeom prst="rect">
            <a:avLst/>
          </a:prstGeom>
          <a:solidFill>
            <a:srgbClr val="0F1328"/>
          </a:solidFill>
          <a:ln>
            <a:solidFill>
              <a:srgbClr val="3E4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10528" y="4224528"/>
            <a:ext cx="54864" cy="210312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10528" y="4224528"/>
            <a:ext cx="5394960" cy="4572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766560" y="4498848"/>
            <a:ext cx="658368" cy="658368"/>
          </a:xfrm>
          <a:prstGeom prst="ellipse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66560" y="4608576"/>
            <a:ext cx="6583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tillium Web"/>
              </a:rPr>
              <a:t>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4480560"/>
            <a:ext cx="4160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Titillium Web"/>
              </a:rPr>
              <a:t>Technical Complexity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89520" y="4882896"/>
            <a:ext cx="4160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0DC"/>
                </a:solidFill>
                <a:latin typeface="Titillium Web"/>
              </a:rPr>
              <a:t>Custom stack, multiple methods, 3DS, orchestration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89520" y="5458968"/>
            <a:ext cx="4160520" cy="12801"/>
          </a:xfrm>
          <a:prstGeom prst="rect">
            <a:avLst/>
          </a:prstGeom>
          <a:solidFill>
            <a:srgbClr val="2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89520" y="5596128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A84AA"/>
                </a:solidFill>
                <a:latin typeface="Titillium Web"/>
              </a:rPr>
              <a:t>BDM logs the technical question in the Discovery ticket → SE evaluates: meeting needed or can respond async.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A3260"/>
                </a:solidFill>
                <a:latin typeface="Titillium Web"/>
              </a:rPr>
              <a:t>W W W . Y . U N 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54864" cy="6858000"/>
          </a:xfrm>
          <a:prstGeom prst="rect">
            <a:avLst/>
          </a:prstGeom>
          <a:solidFill>
            <a:srgbClr val="2838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Titillium Web"/>
              </a:rPr>
              <a:t>Y U N O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" y="822960"/>
            <a:ext cx="3657600" cy="14630"/>
          </a:xfrm>
          <a:prstGeom prst="rect">
            <a:avLst/>
          </a:prstGeom>
          <a:solidFill>
            <a:srgbClr val="607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987552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Titillium Web"/>
              </a:rPr>
              <a:t>Discovery
Ticket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24871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0CCFF"/>
                </a:solidFill>
                <a:latin typeface="Titillium Web"/>
              </a:rPr>
              <a:t>BDM → 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" y="2944368"/>
            <a:ext cx="3657600" cy="14630"/>
          </a:xfrm>
          <a:prstGeom prst="rect">
            <a:avLst/>
          </a:prstGeom>
          <a:solidFill>
            <a:srgbClr val="607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8912" y="3108960"/>
            <a:ext cx="402336" cy="40233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3154679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E4FE0"/>
                </a:solidFill>
                <a:latin typeface="Titillium Web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3154679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Titillium Web"/>
              </a:rPr>
              <a:t>BDM qualifies the deal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" y="3822191"/>
            <a:ext cx="402336" cy="40233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" y="3867911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E4FE0"/>
                </a:solidFill>
                <a:latin typeface="Titillium We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" y="3867911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Titillium Web"/>
              </a:rPr>
              <a:t>Fills out Discovery doc</a:t>
            </a:r>
          </a:p>
        </p:txBody>
      </p:sp>
      <p:sp>
        <p:nvSpPr>
          <p:cNvPr id="16" name="Oval 15"/>
          <p:cNvSpPr/>
          <p:nvPr/>
        </p:nvSpPr>
        <p:spPr>
          <a:xfrm>
            <a:off x="438912" y="4535424"/>
            <a:ext cx="402336" cy="40233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458114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E4FE0"/>
                </a:solidFill>
                <a:latin typeface="Titillium Web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4581144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Titillium Web"/>
              </a:rPr>
              <a:t>Opens ticket + desired timeline</a:t>
            </a:r>
          </a:p>
        </p:txBody>
      </p:sp>
      <p:sp>
        <p:nvSpPr>
          <p:cNvPr id="19" name="Oval 18"/>
          <p:cNvSpPr/>
          <p:nvPr/>
        </p:nvSpPr>
        <p:spPr>
          <a:xfrm>
            <a:off x="438912" y="5248656"/>
            <a:ext cx="402336" cy="40233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5294376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E4FE0"/>
                </a:solidFill>
                <a:latin typeface="Titillium Web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" y="5294376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Titillium Web"/>
              </a:rPr>
              <a:t>SE confirms SLA (48h)</a:t>
            </a:r>
          </a:p>
        </p:txBody>
      </p:sp>
      <p:sp>
        <p:nvSpPr>
          <p:cNvPr id="22" name="Oval 21"/>
          <p:cNvSpPr/>
          <p:nvPr/>
        </p:nvSpPr>
        <p:spPr>
          <a:xfrm>
            <a:off x="438912" y="5961888"/>
            <a:ext cx="402336" cy="40233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" y="6007607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E4FE0"/>
                </a:solidFill>
                <a:latin typeface="Titillium Web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" y="6007607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Titillium Web"/>
              </a:rPr>
              <a:t>SE prepares the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2004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E4FE0"/>
                </a:solidFill>
                <a:latin typeface="Titillium Web"/>
              </a:rPr>
              <a:t>REQUIRED FIELDS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62179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130"/>
                </a:solidFill>
                <a:latin typeface="Titillium Web"/>
              </a:rPr>
              <a:t>SE does not proceed
without the complete document.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1554480"/>
            <a:ext cx="7223760" cy="12801"/>
          </a:xfrm>
          <a:prstGeom prst="rect">
            <a:avLst/>
          </a:prstGeom>
          <a:solidFill>
            <a:srgbClr val="E4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1691640"/>
            <a:ext cx="1920240" cy="475488"/>
          </a:xfrm>
          <a:prstGeom prst="rect">
            <a:avLst/>
          </a:prstGeom>
          <a:solidFill>
            <a:srgbClr val="F5F6FF"/>
          </a:solidFill>
          <a:ln w="7620">
            <a:solidFill>
              <a:srgbClr val="E0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0" y="178308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E4FE0"/>
                </a:solidFill>
                <a:latin typeface="Titillium Web"/>
              </a:rPr>
              <a:t>Merchant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17830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1130"/>
                </a:solidFill>
                <a:latin typeface="Titillium Web"/>
              </a:rPr>
              <a:t>Name, website, vertical, country of operation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2221992"/>
            <a:ext cx="7223760" cy="12801"/>
          </a:xfrm>
          <a:prstGeom prst="rect">
            <a:avLst/>
          </a:prstGeom>
          <a:solidFill>
            <a:srgbClr val="EC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2313432"/>
            <a:ext cx="1920240" cy="475488"/>
          </a:xfrm>
          <a:prstGeom prst="rect">
            <a:avLst/>
          </a:prstGeom>
          <a:solidFill>
            <a:srgbClr val="F5F6FF"/>
          </a:solidFill>
          <a:ln w="7620">
            <a:solidFill>
              <a:srgbClr val="E0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0" y="24048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E4FE0"/>
                </a:solidFill>
                <a:latin typeface="Titillium Web"/>
              </a:rPr>
              <a:t>Technical contact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240487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1130"/>
                </a:solidFill>
                <a:latin typeface="Titillium Web"/>
              </a:rPr>
              <a:t>Internal dev team? Tech stack used?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2843784"/>
            <a:ext cx="7223760" cy="12801"/>
          </a:xfrm>
          <a:prstGeom prst="rect">
            <a:avLst/>
          </a:prstGeom>
          <a:solidFill>
            <a:srgbClr val="EC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2935224"/>
            <a:ext cx="1920240" cy="475488"/>
          </a:xfrm>
          <a:prstGeom prst="rect">
            <a:avLst/>
          </a:prstGeom>
          <a:solidFill>
            <a:srgbClr val="F5F6FF"/>
          </a:solidFill>
          <a:ln w="7620">
            <a:solidFill>
              <a:srgbClr val="E0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54880" y="302666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E4FE0"/>
                </a:solidFill>
                <a:latin typeface="Titillium Web"/>
              </a:rPr>
              <a:t>Estimated volume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302666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1130"/>
                </a:solidFill>
                <a:latin typeface="Titillium Web"/>
              </a:rPr>
              <a:t>Transactions/month, average ticket, currencies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3465576"/>
            <a:ext cx="7223760" cy="12801"/>
          </a:xfrm>
          <a:prstGeom prst="rect">
            <a:avLst/>
          </a:prstGeom>
          <a:solidFill>
            <a:srgbClr val="EC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3557016"/>
            <a:ext cx="1920240" cy="475488"/>
          </a:xfrm>
          <a:prstGeom prst="rect">
            <a:avLst/>
          </a:prstGeom>
          <a:solidFill>
            <a:srgbClr val="F5F6FF"/>
          </a:solidFill>
          <a:ln w="7620">
            <a:solidFill>
              <a:srgbClr val="E0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0" y="364845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E4FE0"/>
                </a:solidFill>
                <a:latin typeface="Titillium Web"/>
              </a:rPr>
              <a:t>Payment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0" y="364845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1130"/>
                </a:solidFill>
                <a:latin typeface="Titillium Web"/>
              </a:rPr>
              <a:t>Which ones today? What do they want to add?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4087368"/>
            <a:ext cx="7223760" cy="12801"/>
          </a:xfrm>
          <a:prstGeom prst="rect">
            <a:avLst/>
          </a:prstGeom>
          <a:solidFill>
            <a:srgbClr val="EC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63440" y="4178808"/>
            <a:ext cx="1920240" cy="475488"/>
          </a:xfrm>
          <a:prstGeom prst="rect">
            <a:avLst/>
          </a:prstGeom>
          <a:solidFill>
            <a:srgbClr val="F5F6FF"/>
          </a:solidFill>
          <a:ln w="7620">
            <a:solidFill>
              <a:srgbClr val="E0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0" y="427024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E4FE0"/>
                </a:solidFill>
                <a:latin typeface="Titillium Web"/>
              </a:rPr>
              <a:t>Pain points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0" y="42702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1130"/>
                </a:solidFill>
                <a:latin typeface="Titillium Web"/>
              </a:rPr>
              <a:t>Why are they looking at Yuno? What's failing?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4709160"/>
            <a:ext cx="7223760" cy="12801"/>
          </a:xfrm>
          <a:prstGeom prst="rect">
            <a:avLst/>
          </a:prstGeom>
          <a:solidFill>
            <a:srgbClr val="EC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63440" y="4800600"/>
            <a:ext cx="1920240" cy="475488"/>
          </a:xfrm>
          <a:prstGeom prst="rect">
            <a:avLst/>
          </a:prstGeom>
          <a:solidFill>
            <a:srgbClr val="F5F6FF"/>
          </a:solidFill>
          <a:ln w="7620">
            <a:solidFill>
              <a:srgbClr val="E0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54880" y="48920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E4FE0"/>
                </a:solidFill>
                <a:latin typeface="Titillium Web"/>
              </a:rPr>
              <a:t>Payer journey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75120" y="48920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1130"/>
                </a:solidFill>
                <a:latin typeface="Titillium Web"/>
              </a:rPr>
              <a:t>App, web, in-person? What does checkout look like?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663440" y="5330952"/>
            <a:ext cx="7223760" cy="12801"/>
          </a:xfrm>
          <a:prstGeom prst="rect">
            <a:avLst/>
          </a:prstGeom>
          <a:solidFill>
            <a:srgbClr val="EC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63440" y="5422392"/>
            <a:ext cx="1920240" cy="475488"/>
          </a:xfrm>
          <a:prstGeom prst="rect">
            <a:avLst/>
          </a:prstGeom>
          <a:solidFill>
            <a:srgbClr val="F5F6FF"/>
          </a:solidFill>
          <a:ln w="7620">
            <a:solidFill>
              <a:srgbClr val="E0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54880" y="5513831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E4FE0"/>
                </a:solidFill>
                <a:latin typeface="Titillium Web"/>
              </a:rPr>
              <a:t>Decision makers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0" y="5513831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1130"/>
                </a:solidFill>
                <a:latin typeface="Titillium Web"/>
              </a:rPr>
              <a:t>CTO, CEO, Head of Product in the room?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663440" y="5952744"/>
            <a:ext cx="7223760" cy="12801"/>
          </a:xfrm>
          <a:prstGeom prst="rect">
            <a:avLst/>
          </a:prstGeom>
          <a:solidFill>
            <a:srgbClr val="EC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663440" y="6044184"/>
            <a:ext cx="1920240" cy="475488"/>
          </a:xfrm>
          <a:prstGeom prst="rect">
            <a:avLst/>
          </a:prstGeom>
          <a:solidFill>
            <a:srgbClr val="F5F6FF"/>
          </a:solidFill>
          <a:ln w="7620">
            <a:solidFill>
              <a:srgbClr val="E0E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0" y="613562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E4FE0"/>
                </a:solidFill>
                <a:latin typeface="Titillium Web"/>
              </a:rPr>
              <a:t>Timeline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75120" y="613562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1130"/>
                </a:solidFill>
                <a:latin typeface="Titillium Web"/>
              </a:rPr>
              <a:t>Desired go-live? Critical dates?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663440" y="6574536"/>
            <a:ext cx="7223760" cy="12801"/>
          </a:xfrm>
          <a:prstGeom prst="rect">
            <a:avLst/>
          </a:prstGeom>
          <a:solidFill>
            <a:srgbClr val="EC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A84AA"/>
                </a:solidFill>
                <a:latin typeface="Titillium Web"/>
              </a:rPr>
              <a:t>W W W . Y . U N 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E4FE0"/>
                </a:solidFill>
                <a:latin typeface="Titillium Web"/>
              </a:rPr>
              <a:t>TO-BE — DEMO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D1130"/>
                </a:solidFill>
                <a:latin typeface="Titillium Web"/>
              </a:rPr>
              <a:t>Internal benchmark: the Cinépolis demo.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60704"/>
            <a:ext cx="11064240" cy="12801"/>
          </a:xfrm>
          <a:prstGeom prst="rect">
            <a:avLst/>
          </a:prstGeom>
          <a:solidFill>
            <a:srgbClr val="E4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5303520" cy="5394960"/>
          </a:xfrm>
          <a:prstGeom prst="rect">
            <a:avLst/>
          </a:prstGeom>
          <a:solidFill>
            <a:srgbClr val="FF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303520" cy="502920"/>
          </a:xfrm>
          <a:prstGeom prst="rect">
            <a:avLst/>
          </a:prstGeom>
          <a:solidFill>
            <a:srgbClr val="DC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261872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Titillium Web"/>
              </a:rPr>
              <a:t>NOT ACCEPTABLE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847088"/>
            <a:ext cx="4937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01818"/>
                </a:solidFill>
                <a:latin typeface="Titillium Web"/>
              </a:rPr>
              <a:t>✕  Generic dashboard tour with no merchant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560320"/>
            <a:ext cx="4937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01818"/>
                </a:solidFill>
                <a:latin typeface="Titillium Web"/>
              </a:rPr>
              <a:t>✕  Live sandbox demo with zero customization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273552"/>
            <a:ext cx="4937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01818"/>
                </a:solidFill>
                <a:latin typeface="Titillium Web"/>
              </a:rPr>
              <a:t>✕  Features the merchant won't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3986783"/>
            <a:ext cx="4937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01818"/>
                </a:solidFill>
                <a:latin typeface="Titillium Web"/>
              </a:rPr>
              <a:t>✕  SE doesn't know the vertical or pain points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700016"/>
            <a:ext cx="4937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01818"/>
                </a:solidFill>
                <a:latin typeface="Titillium Web"/>
              </a:rPr>
              <a:t>✕  No payer journey shown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5413248"/>
            <a:ext cx="4937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01818"/>
                </a:solidFill>
                <a:latin typeface="Titillium Web"/>
              </a:rPr>
              <a:t>✕  UI only — no technical integration shown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3493008"/>
            <a:ext cx="6583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7A84AA"/>
                </a:solidFill>
                <a:latin typeface="Titillium Web"/>
              </a:rPr>
              <a:t>VS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37960" y="1188720"/>
            <a:ext cx="5303520" cy="5394960"/>
          </a:xfrm>
          <a:prstGeom prst="rect">
            <a:avLst/>
          </a:prstGeom>
          <a:solidFill>
            <a:srgbClr val="EDE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37960" y="1188720"/>
            <a:ext cx="5303520" cy="50292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93408" y="1261872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Titillium Web"/>
              </a:rPr>
              <a:t>SE STANDARD (CINÉPOLIS)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3408" y="1847088"/>
            <a:ext cx="4937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01870"/>
                </a:solidFill>
                <a:latin typeface="Titillium Web"/>
              </a:rPr>
              <a:t>✓  Pain points mapped in Discovery before the 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93408" y="2560320"/>
            <a:ext cx="4937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01870"/>
                </a:solidFill>
                <a:latin typeface="Titillium Web"/>
              </a:rPr>
              <a:t>✓  Payer journey customized to the merchant's vertical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3408" y="3273552"/>
            <a:ext cx="4937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01870"/>
                </a:solidFill>
                <a:latin typeface="Titillium Web"/>
              </a:rPr>
              <a:t>✓  Technical integration demonstrated: SDK /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3408" y="3986783"/>
            <a:ext cx="4937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01870"/>
                </a:solidFill>
                <a:latin typeface="Titillium Web"/>
              </a:rPr>
              <a:t>✓  Payment methods relevant to the merchant's country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3408" y="4700016"/>
            <a:ext cx="4937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01870"/>
                </a:solidFill>
                <a:latin typeface="Titillium Web"/>
              </a:rPr>
              <a:t>✓  3DS, fallback, orchestration when applicable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93408" y="5413248"/>
            <a:ext cx="4937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01870"/>
                </a:solidFill>
                <a:latin typeface="Titillium Web"/>
              </a:rPr>
              <a:t>✓  Merchant's language — not IT jargon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A84AA"/>
                </a:solidFill>
                <a:latin typeface="Titillium Web"/>
              </a:rPr>
              <a:t>W W W . Y . U N 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E4FE0"/>
                </a:solidFill>
                <a:latin typeface="Titillium Web"/>
              </a:rPr>
              <a:t>THE ROLE OF THE SOLUTIONS ENGINEER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1130"/>
                </a:solidFill>
                <a:latin typeface="Titillium Web"/>
              </a:rPr>
              <a:t>One role. Full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60704"/>
            <a:ext cx="11064240" cy="12801"/>
          </a:xfrm>
          <a:prstGeom prst="rect">
            <a:avLst/>
          </a:prstGeom>
          <a:solidFill>
            <a:srgbClr val="E4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3200400" cy="1325880"/>
          </a:xfrm>
          <a:prstGeom prst="rect">
            <a:avLst/>
          </a:prstGeom>
          <a:solidFill>
            <a:srgbClr val="F0F2FF"/>
          </a:solidFill>
          <a:ln w="10160">
            <a:solidFill>
              <a:srgbClr val="C0C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3200400" cy="347472"/>
          </a:xfrm>
          <a:prstGeom prst="rect">
            <a:avLst/>
          </a:prstGeom>
          <a:solidFill>
            <a:srgbClr val="909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6187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Titillium Web"/>
              </a:rPr>
              <a:t>Sales Engineer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64208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1130"/>
                </a:solidFill>
                <a:latin typeface="Titillium Web"/>
              </a:rPr>
              <a:t>• Pre-sales: demos and technical discovery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4767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1130"/>
                </a:solidFill>
                <a:latin typeface="Titillium Web"/>
              </a:rPr>
              <a:t>• Commercial support to the BDM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31136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1130"/>
                </a:solidFill>
                <a:latin typeface="Titillium Web"/>
              </a:rPr>
              <a:t>• No post-contract involvement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58768" y="1572768"/>
            <a:ext cx="438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E4FE0"/>
                </a:solidFill>
                <a:latin typeface="Titillium Web"/>
              </a:rPr>
              <a:t>+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234440"/>
            <a:ext cx="3200400" cy="1325880"/>
          </a:xfrm>
          <a:prstGeom prst="rect">
            <a:avLst/>
          </a:prstGeom>
          <a:solidFill>
            <a:srgbClr val="F0F2FF"/>
          </a:solidFill>
          <a:ln w="10160">
            <a:solidFill>
              <a:srgbClr val="C0C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7408" y="1234440"/>
            <a:ext cx="3200400" cy="347472"/>
          </a:xfrm>
          <a:prstGeom prst="rect">
            <a:avLst/>
          </a:prstGeom>
          <a:solidFill>
            <a:srgbClr val="909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4568" y="126187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Titillium Web"/>
              </a:rPr>
              <a:t>Implementation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1664208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1130"/>
                </a:solidFill>
                <a:latin typeface="Titillium Web"/>
              </a:rPr>
              <a:t>• Technical onboarding post-contract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194767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1130"/>
                </a:solidFill>
                <a:latin typeface="Titillium Web"/>
              </a:rPr>
              <a:t>• SDK/API integration with the merchant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2231136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D1130"/>
                </a:solidFill>
                <a:latin typeface="Titillium Web"/>
              </a:rPr>
              <a:t>• No visibility into the sales 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17536" y="1572768"/>
            <a:ext cx="438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E4FE0"/>
                </a:solidFill>
                <a:latin typeface="Titillium Web"/>
              </a:rPr>
              <a:t>=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5320" y="1234440"/>
            <a:ext cx="3566160" cy="132588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1261872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Titillium Web"/>
              </a:rPr>
              <a:t>Solutions Engineer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166420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0CCFF"/>
                </a:solidFill>
                <a:latin typeface="Titillium Web"/>
              </a:rPr>
              <a:t>• Full cycle: pre-sales → go-live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194767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0CCFF"/>
                </a:solidFill>
                <a:latin typeface="Titillium Web"/>
              </a:rPr>
              <a:t>• Owner of the demo and technical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231136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0CCFF"/>
                </a:solidFill>
                <a:latin typeface="Titillium Web"/>
              </a:rPr>
              <a:t>• Technical reference throughout the deal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8163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1130"/>
                </a:solidFill>
                <a:latin typeface="Titillium Web"/>
              </a:rPr>
              <a:t>Responsibilities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163824"/>
            <a:ext cx="11064240" cy="12801"/>
          </a:xfrm>
          <a:prstGeom prst="rect">
            <a:avLst/>
          </a:prstGeom>
          <a:solidFill>
            <a:srgbClr val="E4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310128"/>
            <a:ext cx="3657600" cy="3328416"/>
          </a:xfrm>
          <a:prstGeom prst="rect">
            <a:avLst/>
          </a:prstGeom>
          <a:solidFill>
            <a:srgbClr val="F5F6FF"/>
          </a:solidFill>
          <a:ln w="10160">
            <a:solidFill>
              <a:srgbClr val="D8D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310128"/>
            <a:ext cx="3657600" cy="347472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33756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tillium Web"/>
              </a:rPr>
              <a:t>PRE-SALES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3749039"/>
            <a:ext cx="3429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D1130"/>
                </a:solidFill>
                <a:latin typeface="Titillium Web"/>
              </a:rPr>
              <a:t>• Qualify technical fit of the merchant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425696"/>
            <a:ext cx="3429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D1130"/>
                </a:solidFill>
                <a:latin typeface="Titillium Web"/>
              </a:rPr>
              <a:t>• Lead technical discovery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102352"/>
            <a:ext cx="3429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D1130"/>
                </a:solidFill>
                <a:latin typeface="Titillium Web"/>
              </a:rPr>
              <a:t>• Personalized demo — Cinépolis standard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5779007"/>
            <a:ext cx="3429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D1130"/>
                </a:solidFill>
                <a:latin typeface="Titillium Web"/>
              </a:rPr>
              <a:t>• Answer RFPs and technical questions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25696" y="3310128"/>
            <a:ext cx="3657600" cy="3328416"/>
          </a:xfrm>
          <a:prstGeom prst="rect">
            <a:avLst/>
          </a:prstGeom>
          <a:solidFill>
            <a:srgbClr val="F5F6FF"/>
          </a:solidFill>
          <a:ln w="10160">
            <a:solidFill>
              <a:srgbClr val="D8D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425696" y="3310128"/>
            <a:ext cx="3657600" cy="347472"/>
          </a:xfrm>
          <a:prstGeom prst="rect">
            <a:avLst/>
          </a:prstGeom>
          <a:solidFill>
            <a:srgbClr val="2838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5424" y="333756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tillium Web"/>
              </a:rPr>
              <a:t>DEAL CLOSING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5424" y="3749039"/>
            <a:ext cx="3429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D1130"/>
                </a:solidFill>
                <a:latin typeface="Titillium Web"/>
              </a:rPr>
              <a:t>• Technical Scoping with tech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5424" y="4425696"/>
            <a:ext cx="3429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D1130"/>
                </a:solidFill>
                <a:latin typeface="Titillium Web"/>
              </a:rPr>
              <a:t>• Define solution architecture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5424" y="5102352"/>
            <a:ext cx="3429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D1130"/>
                </a:solidFill>
                <a:latin typeface="Titillium Web"/>
              </a:rPr>
              <a:t>• Support negotiation with technical input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5424" y="5779007"/>
            <a:ext cx="3429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D1130"/>
                </a:solidFill>
                <a:latin typeface="Titillium Web"/>
              </a:rPr>
              <a:t>• Handoff or execute implementation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02752" y="3310128"/>
            <a:ext cx="3657600" cy="3328416"/>
          </a:xfrm>
          <a:prstGeom prst="rect">
            <a:avLst/>
          </a:prstGeom>
          <a:solidFill>
            <a:srgbClr val="F5F6FF"/>
          </a:solidFill>
          <a:ln w="10160">
            <a:solidFill>
              <a:srgbClr val="D8D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302752" y="3310128"/>
            <a:ext cx="3657600" cy="347472"/>
          </a:xfrm>
          <a:prstGeom prst="rect">
            <a:avLst/>
          </a:prstGeom>
          <a:solidFill>
            <a:srgbClr val="1A2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333756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tillium Web"/>
              </a:rPr>
              <a:t>POST-CONTRACT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3749039"/>
            <a:ext cx="3429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D1130"/>
                </a:solidFill>
                <a:latin typeface="Titillium Web"/>
              </a:rPr>
              <a:t>• Lead technical onboarding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4425696"/>
            <a:ext cx="3429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D1130"/>
                </a:solidFill>
                <a:latin typeface="Titillium Web"/>
              </a:rPr>
              <a:t>• Integrate SDK/API into merchant environment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80" y="5102352"/>
            <a:ext cx="3429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D1130"/>
                </a:solidFill>
                <a:latin typeface="Titillium Web"/>
              </a:rPr>
              <a:t>• Go-live support and first 90 days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0" y="5779007"/>
            <a:ext cx="3429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D1130"/>
                </a:solidFill>
                <a:latin typeface="Titillium Web"/>
              </a:rPr>
              <a:t>• Identify upsell with commercial team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A84AA"/>
                </a:solidFill>
                <a:latin typeface="Titillium Web"/>
              </a:rPr>
              <a:t>W W W . Y . U N 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9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603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080F0"/>
                </a:solidFill>
                <a:latin typeface="Titillium Web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Titillium Web"/>
              </a:rPr>
              <a:t>How we put this into practice.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152144"/>
            <a:ext cx="10789920" cy="12801"/>
          </a:xfrm>
          <a:prstGeom prst="rect">
            <a:avLst/>
          </a:prstGeom>
          <a:solidFill>
            <a:srgbClr val="182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35024"/>
            <a:ext cx="594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E4FE0"/>
                </a:solidFill>
                <a:latin typeface="Titillium Web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481328" y="1444752"/>
            <a:ext cx="1115568" cy="384048"/>
          </a:xfrm>
          <a:prstGeom prst="rect">
            <a:avLst/>
          </a:prstGeom>
          <a:solidFill>
            <a:srgbClr val="141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17904" y="1481328"/>
            <a:ext cx="10424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8C0DC"/>
                </a:solidFill>
                <a:latin typeface="Titillium Web"/>
              </a:rPr>
              <a:t>Wk.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389888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Titillium Web"/>
              </a:rPr>
              <a:t>Define SE engagement criteria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755648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0DC"/>
                </a:solidFill>
                <a:latin typeface="Titillium Web"/>
              </a:rPr>
              <a:t>Workshop with Sales Leads + SE Leads. Define $ thresholds, tier, strategic flags. Publish.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304288"/>
            <a:ext cx="10789920" cy="12801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414015"/>
            <a:ext cx="594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E4FE0"/>
                </a:solidFill>
                <a:latin typeface="Titillium Web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81328" y="2523744"/>
            <a:ext cx="1115568" cy="384048"/>
          </a:xfrm>
          <a:prstGeom prst="rect">
            <a:avLst/>
          </a:prstGeom>
          <a:solidFill>
            <a:srgbClr val="141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17904" y="2560320"/>
            <a:ext cx="10424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8C0DC"/>
                </a:solidFill>
                <a:latin typeface="Titillium Web"/>
              </a:rPr>
              <a:t>Wk. 2–3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468879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Titillium Web"/>
              </a:rPr>
              <a:t>Create Discovery template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834639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0DC"/>
                </a:solidFill>
                <a:latin typeface="Titillium Web"/>
              </a:rPr>
              <a:t>SE + BDM co-create the document. Test with 2–3 live deals.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383279"/>
            <a:ext cx="10789920" cy="12801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493008"/>
            <a:ext cx="594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E4FE0"/>
                </a:solidFill>
                <a:latin typeface="Titillium Web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81328" y="3602736"/>
            <a:ext cx="1115568" cy="384048"/>
          </a:xfrm>
          <a:prstGeom prst="rect">
            <a:avLst/>
          </a:prstGeom>
          <a:solidFill>
            <a:srgbClr val="141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17904" y="3639312"/>
            <a:ext cx="10424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8C0DC"/>
                </a:solidFill>
                <a:latin typeface="Titillium Web"/>
              </a:rPr>
              <a:t>Wk. 3–4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547872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Titillium Web"/>
              </a:rPr>
              <a:t>Set up ticket workflow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913632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0DC"/>
                </a:solidFill>
                <a:latin typeface="Titillium Web"/>
              </a:rPr>
              <a:t>Channel, request form, 48h SLA. Integrate with management tool.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462272"/>
            <a:ext cx="10789920" cy="12801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572000"/>
            <a:ext cx="594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E4FE0"/>
                </a:solidFill>
                <a:latin typeface="Titillium Web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81328" y="4681728"/>
            <a:ext cx="1115568" cy="384048"/>
          </a:xfrm>
          <a:prstGeom prst="rect">
            <a:avLst/>
          </a:prstGeom>
          <a:solidFill>
            <a:srgbClr val="141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517904" y="4718304"/>
            <a:ext cx="10424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8C0DC"/>
                </a:solidFill>
                <a:latin typeface="Titillium Web"/>
              </a:rPr>
              <a:t>Month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4626864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Titillium Web"/>
              </a:rPr>
              <a:t>Enablement: Cinépolis demo standard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4992624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0DC"/>
                </a:solidFill>
                <a:latin typeface="Titillium Web"/>
              </a:rPr>
              <a:t>Document and run enablement session for all SEs.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541264"/>
            <a:ext cx="10789920" cy="12801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50992"/>
            <a:ext cx="594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E4FE0"/>
                </a:solidFill>
                <a:latin typeface="Titillium Web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81328" y="5760720"/>
            <a:ext cx="1115568" cy="384048"/>
          </a:xfrm>
          <a:prstGeom prst="rect">
            <a:avLst/>
          </a:prstGeom>
          <a:solidFill>
            <a:srgbClr val="141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17904" y="5797296"/>
            <a:ext cx="10424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B8C0DC"/>
                </a:solidFill>
                <a:latin typeface="Titillium Web"/>
              </a:rPr>
              <a:t>Month 2–3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5705855"/>
            <a:ext cx="8961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Titillium Web"/>
              </a:rPr>
              <a:t>Pilot with 5 deals + retrospective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0" y="6071616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0DC"/>
                </a:solidFill>
                <a:latin typeface="Titillium Web"/>
              </a:rPr>
              <a:t>Run with 5 real deals. Collect feedback. Iterate and publish v2.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A3260"/>
                </a:solidFill>
                <a:latin typeface="Titillium Web"/>
              </a:rPr>
              <a:t>W W W . Y . U N 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709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709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Titillium Web"/>
              </a:rPr>
              <a:t>The goal is not
to have more processes.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657600"/>
            <a:ext cx="6858000" cy="228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0CCFF"/>
                </a:solidFill>
                <a:latin typeface="Titillium Web"/>
              </a:rPr>
              <a:t>It's to ensure every merchant who deserves
an SE-level demo, gets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212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0A0E0"/>
                </a:solidFill>
                <a:latin typeface="Titillium Web"/>
              </a:rPr>
              <a:t>Solutions Engineering @ Yuno  —  April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2A3260"/>
                </a:solidFill>
                <a:latin typeface="Titillium Web"/>
              </a:rPr>
              <a:t>W W W . Y . U N 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